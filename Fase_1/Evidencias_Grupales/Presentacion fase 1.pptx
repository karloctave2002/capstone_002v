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BeeZee" panose="020B0604020202020204" charset="0"/>
      <p:regular r:id="rId15"/>
    </p:embeddedFont>
    <p:embeddedFont>
      <p:font typeface="Agrandir Narrow" panose="020B0604020202020204" charset="0"/>
      <p:regular r:id="rId16"/>
    </p:embeddedFont>
    <p:embeddedFont>
      <p:font typeface="Agrandir Narrow Bold" panose="020B0604020202020204" charset="0"/>
      <p:regular r:id="rId17"/>
    </p:embeddedFont>
    <p:embeddedFont>
      <p:font typeface="Angelina" panose="02000500000000000000" charset="0"/>
      <p:regular r:id="rId18"/>
    </p:embeddedFont>
    <p:embeddedFont>
      <p:font typeface="Arial MT Pro" panose="020B0604020202020204" charset="0"/>
      <p:regular r:id="rId19"/>
    </p:embeddedFont>
    <p:embeddedFont>
      <p:font typeface="Bellaboo" panose="020B0604020202020204" charset="0"/>
      <p:regular r:id="rId20"/>
    </p:embeddedFont>
    <p:embeddedFont>
      <p:font typeface="DM Sans" pitchFamily="2" charset="0"/>
      <p:regular r:id="rId21"/>
    </p:embeddedFont>
    <p:embeddedFont>
      <p:font typeface="Eras Demi ITC" panose="020B0805030504020804" pitchFamily="34" charset="0"/>
      <p:regular r:id="rId22"/>
    </p:embeddedFont>
    <p:embeddedFont>
      <p:font typeface="Futura" panose="020B0604020202020204" charset="0"/>
      <p:regular r:id="rId23"/>
    </p:embeddedFont>
    <p:embeddedFont>
      <p:font typeface="Garet" panose="020B0604020202020204" charset="0"/>
      <p:regular r:id="rId24"/>
    </p:embeddedFont>
    <p:embeddedFont>
      <p:font typeface="Inter" panose="020B0604020202020204" charset="0"/>
      <p:regular r:id="rId25"/>
    </p:embeddedFont>
    <p:embeddedFont>
      <p:font typeface="Lato" panose="020F0502020204030203" pitchFamily="34" charset="0"/>
      <p:regular r:id="rId26"/>
    </p:embeddedFont>
    <p:embeddedFont>
      <p:font typeface="League Spartan" panose="020B0604020202020204" charset="0"/>
      <p:regular r:id="rId27"/>
    </p:embeddedFont>
    <p:embeddedFont>
      <p:font typeface="Madani Arabic"/>
      <p:regular r:id="rId28"/>
    </p:embeddedFont>
    <p:embeddedFont>
      <p:font typeface="Maitree" panose="020B0604020202020204" charset="-34"/>
      <p:regular r:id="rId29"/>
    </p:embeddedFont>
    <p:embeddedFont>
      <p:font typeface="Open Sauce SemiBold" panose="020B0604020202020204" charset="0"/>
      <p:regular r:id="rId30"/>
    </p:embeddedFont>
    <p:embeddedFont>
      <p:font typeface="Open Sauce SemiBold Bold" panose="020B0604020202020204" charset="0"/>
      <p:regular r:id="rId31"/>
    </p:embeddedFont>
    <p:embeddedFont>
      <p:font typeface="Roboto" panose="02000000000000000000" pitchFamily="2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0503" r="-4727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2144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6734769" y="4252969"/>
            <a:ext cx="524531" cy="606076"/>
          </a:xfrm>
          <a:custGeom>
            <a:avLst/>
            <a:gdLst/>
            <a:ahLst/>
            <a:cxnLst/>
            <a:rect l="l" t="t" r="r" b="b"/>
            <a:pathLst>
              <a:path w="524531" h="606076">
                <a:moveTo>
                  <a:pt x="0" y="0"/>
                </a:moveTo>
                <a:lnTo>
                  <a:pt x="524531" y="0"/>
                </a:lnTo>
                <a:lnTo>
                  <a:pt x="524531" y="606076"/>
                </a:lnTo>
                <a:lnTo>
                  <a:pt x="0" y="606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-228600" y="5548794"/>
            <a:ext cx="3693033" cy="4114800"/>
          </a:xfrm>
          <a:custGeom>
            <a:avLst/>
            <a:gdLst/>
            <a:ahLst/>
            <a:cxnLst/>
            <a:rect l="l" t="t" r="r" b="b"/>
            <a:pathLst>
              <a:path w="3693033" h="4114800">
                <a:moveTo>
                  <a:pt x="0" y="0"/>
                </a:moveTo>
                <a:lnTo>
                  <a:pt x="3693033" y="0"/>
                </a:lnTo>
                <a:lnTo>
                  <a:pt x="36930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2205614" y="6733094"/>
            <a:ext cx="2436521" cy="330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4"/>
              </a:lnSpc>
            </a:pPr>
            <a:r>
              <a:rPr lang="en-US" sz="1800" spc="169">
                <a:solidFill>
                  <a:srgbClr val="FFFFFF"/>
                </a:solidFill>
                <a:latin typeface="Madani Arabic"/>
                <a:ea typeface="Madani Arabic"/>
                <a:cs typeface="Madani Arabic"/>
                <a:sym typeface="Madani Arabic"/>
              </a:rPr>
              <a:t>Capstone 002V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18609" y="9169247"/>
            <a:ext cx="2260392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</a:pPr>
            <a:r>
              <a:rPr lang="en-US" sz="1499" spc="11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INTEGRANTES</a:t>
            </a:r>
          </a:p>
          <a:p>
            <a:pPr algn="ctr">
              <a:lnSpc>
                <a:spcPts val="1964"/>
              </a:lnSpc>
            </a:pPr>
            <a:r>
              <a:rPr lang="en-US" sz="1499" spc="11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KARL OCTAVE </a:t>
            </a:r>
          </a:p>
          <a:p>
            <a:pPr algn="ctr">
              <a:lnSpc>
                <a:spcPts val="1964"/>
              </a:lnSpc>
            </a:pPr>
            <a:r>
              <a:rPr lang="en-US" sz="1499" spc="11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SCNA GERMAIN </a:t>
            </a:r>
          </a:p>
          <a:p>
            <a:pPr algn="ctr">
              <a:lnSpc>
                <a:spcPts val="1964"/>
              </a:lnSpc>
            </a:pPr>
            <a:r>
              <a:rPr lang="en-US" sz="1499" spc="11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GUILBAUD WILCINOT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8588407" y="1017029"/>
            <a:ext cx="2765393" cy="928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28"/>
              </a:lnSpc>
              <a:spcBef>
                <a:spcPct val="0"/>
              </a:spcBef>
            </a:pPr>
            <a:r>
              <a:rPr lang="en-US" sz="544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Contexto</a:t>
            </a:r>
            <a:endParaRPr lang="en-US" sz="5449" dirty="0">
              <a:solidFill>
                <a:srgbClr val="FFFFFF"/>
              </a:solidFill>
              <a:latin typeface="+mj-l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421174" y="2284180"/>
            <a:ext cx="8720802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399" dirty="0">
                <a:solidFill>
                  <a:srgbClr val="FFFFFF"/>
                </a:solidFill>
                <a:sym typeface="Garet"/>
              </a:rPr>
              <a:t>Chile se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encuentra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en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un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proceso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sostenido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de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envejecimiento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de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su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población.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616655" y="9789984"/>
            <a:ext cx="3981011" cy="214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58"/>
              </a:lnSpc>
              <a:spcBef>
                <a:spcPct val="0"/>
              </a:spcBef>
            </a:pPr>
            <a:r>
              <a:rPr lang="en-US" sz="132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Fuente: INE – Censo 2024 / SENAMA – ENDIDE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84221" y="3512117"/>
            <a:ext cx="3063969" cy="1940047"/>
            <a:chOff x="0" y="0"/>
            <a:chExt cx="1231025" cy="7794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1025" cy="779462"/>
            </a:xfrm>
            <a:custGeom>
              <a:avLst/>
              <a:gdLst/>
              <a:ahLst/>
              <a:cxnLst/>
              <a:rect l="l" t="t" r="r" b="b"/>
              <a:pathLst>
                <a:path w="1231025" h="779462">
                  <a:moveTo>
                    <a:pt x="42955" y="0"/>
                  </a:moveTo>
                  <a:lnTo>
                    <a:pt x="1188070" y="0"/>
                  </a:lnTo>
                  <a:cubicBezTo>
                    <a:pt x="1199462" y="0"/>
                    <a:pt x="1210388" y="4526"/>
                    <a:pt x="1218444" y="12581"/>
                  </a:cubicBezTo>
                  <a:cubicBezTo>
                    <a:pt x="1226499" y="20637"/>
                    <a:pt x="1231025" y="31563"/>
                    <a:pt x="1231025" y="42955"/>
                  </a:cubicBezTo>
                  <a:lnTo>
                    <a:pt x="1231025" y="736507"/>
                  </a:lnTo>
                  <a:cubicBezTo>
                    <a:pt x="1231025" y="747899"/>
                    <a:pt x="1226499" y="758825"/>
                    <a:pt x="1218444" y="766880"/>
                  </a:cubicBezTo>
                  <a:cubicBezTo>
                    <a:pt x="1210388" y="774936"/>
                    <a:pt x="1199462" y="779462"/>
                    <a:pt x="1188070" y="779462"/>
                  </a:cubicBezTo>
                  <a:lnTo>
                    <a:pt x="42955" y="779462"/>
                  </a:lnTo>
                  <a:cubicBezTo>
                    <a:pt x="19232" y="779462"/>
                    <a:pt x="0" y="760230"/>
                    <a:pt x="0" y="736507"/>
                  </a:cubicBezTo>
                  <a:lnTo>
                    <a:pt x="0" y="42955"/>
                  </a:lnTo>
                  <a:cubicBezTo>
                    <a:pt x="0" y="31563"/>
                    <a:pt x="4526" y="20637"/>
                    <a:pt x="12581" y="12581"/>
                  </a:cubicBezTo>
                  <a:cubicBezTo>
                    <a:pt x="20637" y="4526"/>
                    <a:pt x="31563" y="0"/>
                    <a:pt x="42955" y="0"/>
                  </a:cubicBezTo>
                  <a:close/>
                </a:path>
              </a:pathLst>
            </a:custGeom>
            <a:solidFill>
              <a:srgbClr val="000000">
                <a:alpha val="29804"/>
              </a:srgbClr>
            </a:solidFill>
            <a:ln w="28575" cap="sq">
              <a:solidFill>
                <a:srgbClr val="FFFFF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231025" cy="8080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926290" y="3655291"/>
            <a:ext cx="1450869" cy="506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8"/>
              </a:lnSpc>
            </a:pPr>
            <a:r>
              <a:rPr lang="en-US" sz="3655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14%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21669" y="4256979"/>
            <a:ext cx="2660112" cy="84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FFFFFF"/>
                </a:solidFill>
                <a:sym typeface="Garet"/>
              </a:rPr>
              <a:t>De la población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tiene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65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años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o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más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458031" y="3512117"/>
            <a:ext cx="3167046" cy="1940047"/>
            <a:chOff x="0" y="0"/>
            <a:chExt cx="1272439" cy="7794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72439" cy="779462"/>
            </a:xfrm>
            <a:custGeom>
              <a:avLst/>
              <a:gdLst/>
              <a:ahLst/>
              <a:cxnLst/>
              <a:rect l="l" t="t" r="r" b="b"/>
              <a:pathLst>
                <a:path w="1272439" h="779462">
                  <a:moveTo>
                    <a:pt x="41557" y="0"/>
                  </a:moveTo>
                  <a:lnTo>
                    <a:pt x="1230882" y="0"/>
                  </a:lnTo>
                  <a:cubicBezTo>
                    <a:pt x="1241904" y="0"/>
                    <a:pt x="1252474" y="4378"/>
                    <a:pt x="1260267" y="12172"/>
                  </a:cubicBezTo>
                  <a:cubicBezTo>
                    <a:pt x="1268061" y="19965"/>
                    <a:pt x="1272439" y="30535"/>
                    <a:pt x="1272439" y="41557"/>
                  </a:cubicBezTo>
                  <a:lnTo>
                    <a:pt x="1272439" y="737905"/>
                  </a:lnTo>
                  <a:cubicBezTo>
                    <a:pt x="1272439" y="748926"/>
                    <a:pt x="1268061" y="759496"/>
                    <a:pt x="1260267" y="767290"/>
                  </a:cubicBezTo>
                  <a:cubicBezTo>
                    <a:pt x="1252474" y="775083"/>
                    <a:pt x="1241904" y="779462"/>
                    <a:pt x="1230882" y="779462"/>
                  </a:cubicBezTo>
                  <a:lnTo>
                    <a:pt x="41557" y="779462"/>
                  </a:lnTo>
                  <a:cubicBezTo>
                    <a:pt x="30535" y="779462"/>
                    <a:pt x="19965" y="775083"/>
                    <a:pt x="12172" y="767290"/>
                  </a:cubicBezTo>
                  <a:cubicBezTo>
                    <a:pt x="4378" y="759496"/>
                    <a:pt x="0" y="748926"/>
                    <a:pt x="0" y="737905"/>
                  </a:cubicBezTo>
                  <a:lnTo>
                    <a:pt x="0" y="41557"/>
                  </a:lnTo>
                  <a:cubicBezTo>
                    <a:pt x="0" y="30535"/>
                    <a:pt x="4378" y="19965"/>
                    <a:pt x="12172" y="12172"/>
                  </a:cubicBezTo>
                  <a:cubicBezTo>
                    <a:pt x="19965" y="4378"/>
                    <a:pt x="30535" y="0"/>
                    <a:pt x="41557" y="0"/>
                  </a:cubicBezTo>
                  <a:close/>
                </a:path>
              </a:pathLst>
            </a:custGeom>
            <a:solidFill>
              <a:srgbClr val="000000">
                <a:alpha val="29804"/>
              </a:srgbClr>
            </a:solidFill>
            <a:ln w="28575" cap="sq">
              <a:solidFill>
                <a:srgbClr val="FFFFF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272439" cy="8080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130257" y="3734968"/>
            <a:ext cx="1617112" cy="506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8"/>
              </a:lnSpc>
            </a:pPr>
            <a:r>
              <a:rPr lang="en-US" sz="3655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11,6%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73893" y="4172326"/>
            <a:ext cx="2935321" cy="1279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FFFFFF"/>
                </a:solidFill>
                <a:sym typeface="Garet"/>
              </a:rPr>
              <a:t>De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los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hogares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está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formado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solo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por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personas de 65+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834920" y="3512117"/>
            <a:ext cx="3047122" cy="1940047"/>
            <a:chOff x="0" y="0"/>
            <a:chExt cx="1224256" cy="7794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24256" cy="779462"/>
            </a:xfrm>
            <a:custGeom>
              <a:avLst/>
              <a:gdLst/>
              <a:ahLst/>
              <a:cxnLst/>
              <a:rect l="l" t="t" r="r" b="b"/>
              <a:pathLst>
                <a:path w="1224256" h="779462">
                  <a:moveTo>
                    <a:pt x="43192" y="0"/>
                  </a:moveTo>
                  <a:lnTo>
                    <a:pt x="1181064" y="0"/>
                  </a:lnTo>
                  <a:cubicBezTo>
                    <a:pt x="1204919" y="0"/>
                    <a:pt x="1224256" y="19338"/>
                    <a:pt x="1224256" y="43192"/>
                  </a:cubicBezTo>
                  <a:lnTo>
                    <a:pt x="1224256" y="736269"/>
                  </a:lnTo>
                  <a:cubicBezTo>
                    <a:pt x="1224256" y="747725"/>
                    <a:pt x="1219706" y="758711"/>
                    <a:pt x="1211606" y="766811"/>
                  </a:cubicBezTo>
                  <a:cubicBezTo>
                    <a:pt x="1203506" y="774911"/>
                    <a:pt x="1192519" y="779462"/>
                    <a:pt x="1181064" y="779462"/>
                  </a:cubicBezTo>
                  <a:lnTo>
                    <a:pt x="43192" y="779462"/>
                  </a:lnTo>
                  <a:cubicBezTo>
                    <a:pt x="19338" y="779462"/>
                    <a:pt x="0" y="760124"/>
                    <a:pt x="0" y="736269"/>
                  </a:cubicBezTo>
                  <a:lnTo>
                    <a:pt x="0" y="43192"/>
                  </a:lnTo>
                  <a:cubicBezTo>
                    <a:pt x="0" y="19338"/>
                    <a:pt x="19338" y="0"/>
                    <a:pt x="43192" y="0"/>
                  </a:cubicBezTo>
                  <a:close/>
                </a:path>
              </a:pathLst>
            </a:custGeom>
            <a:solidFill>
              <a:srgbClr val="000000">
                <a:alpha val="29804"/>
              </a:srgbClr>
            </a:solidFill>
            <a:ln w="28575" cap="sq">
              <a:solidFill>
                <a:srgbClr val="FFFFF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224256" cy="8080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419892" y="3559742"/>
            <a:ext cx="1877177" cy="506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8"/>
              </a:lnSpc>
            </a:pPr>
            <a:r>
              <a:rPr lang="en-US" sz="36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22,2%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03176" y="4256979"/>
            <a:ext cx="2840227" cy="844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FFFFFF"/>
                </a:solidFill>
                <a:sym typeface="Garet"/>
              </a:rPr>
              <a:t>De las personas de 60+ 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presenta</a:t>
            </a:r>
            <a:r>
              <a:rPr lang="en-US" sz="2399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2399" dirty="0" err="1">
                <a:solidFill>
                  <a:srgbClr val="FFFFFF"/>
                </a:solidFill>
                <a:sym typeface="Garet"/>
              </a:rPr>
              <a:t>dependencia</a:t>
            </a:r>
            <a:endParaRPr lang="en-US" sz="2399" dirty="0">
              <a:solidFill>
                <a:srgbClr val="FFFFFF"/>
              </a:solidFill>
              <a:sym typeface="Gare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92159" y="5846111"/>
            <a:ext cx="8767965" cy="84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Cada </a:t>
            </a:r>
            <a:r>
              <a:rPr lang="en-US" sz="23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vez</a:t>
            </a:r>
            <a:r>
              <a:rPr lang="en-US" sz="23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3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más</a:t>
            </a:r>
            <a:r>
              <a:rPr lang="en-US" sz="23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personas </a:t>
            </a:r>
            <a:r>
              <a:rPr lang="en-US" sz="23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mayores</a:t>
            </a:r>
            <a:r>
              <a:rPr lang="en-US" sz="23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3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viven</a:t>
            </a:r>
            <a:r>
              <a:rPr lang="en-US" sz="23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solo y </a:t>
            </a:r>
            <a:r>
              <a:rPr lang="en-US" sz="23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necesitan</a:t>
            </a:r>
            <a:r>
              <a:rPr lang="en-US" sz="23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3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apoyo</a:t>
            </a:r>
            <a:r>
              <a:rPr lang="en-US" sz="23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de </a:t>
            </a:r>
            <a:r>
              <a:rPr lang="en-US" sz="23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terceros</a:t>
            </a:r>
            <a:r>
              <a:rPr lang="en-US" sz="23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para </a:t>
            </a:r>
            <a:r>
              <a:rPr lang="en-US" sz="23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enfrentar</a:t>
            </a:r>
            <a:r>
              <a:rPr lang="en-US" sz="23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3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situaciones</a:t>
            </a:r>
            <a:r>
              <a:rPr lang="en-US" sz="23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de </a:t>
            </a:r>
            <a:r>
              <a:rPr lang="en-US" sz="23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riesgo</a:t>
            </a:r>
            <a:r>
              <a:rPr lang="en-US" sz="23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o </a:t>
            </a:r>
            <a:r>
              <a:rPr lang="en-US" sz="23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emergencia</a:t>
            </a:r>
            <a:r>
              <a:rPr lang="en-US" sz="23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329337"/>
            <a:chOff x="0" y="0"/>
            <a:chExt cx="4816593" cy="27204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20484"/>
            </a:xfrm>
            <a:custGeom>
              <a:avLst/>
              <a:gdLst/>
              <a:ahLst/>
              <a:cxnLst/>
              <a:rect l="l" t="t" r="r" b="b"/>
              <a:pathLst>
                <a:path w="4816592" h="2720484">
                  <a:moveTo>
                    <a:pt x="0" y="0"/>
                  </a:moveTo>
                  <a:lnTo>
                    <a:pt x="4816592" y="0"/>
                  </a:lnTo>
                  <a:lnTo>
                    <a:pt x="4816592" y="2720484"/>
                  </a:lnTo>
                  <a:lnTo>
                    <a:pt x="0" y="2720484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78000"/>
                  </a:srgbClr>
                </a:gs>
                <a:gs pos="100000">
                  <a:srgbClr val="1A1E83">
                    <a:alpha val="78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78000"/>
                    </a:srgbClr>
                  </a:gs>
                  <a:gs pos="100000">
                    <a:srgbClr val="E2E2E2">
                      <a:alpha val="78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68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03696" y="3120606"/>
            <a:ext cx="6877834" cy="1741558"/>
            <a:chOff x="0" y="0"/>
            <a:chExt cx="2763339" cy="6997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63339" cy="699714"/>
            </a:xfrm>
            <a:custGeom>
              <a:avLst/>
              <a:gdLst/>
              <a:ahLst/>
              <a:cxnLst/>
              <a:rect l="l" t="t" r="r" b="b"/>
              <a:pathLst>
                <a:path w="2763339" h="699714">
                  <a:moveTo>
                    <a:pt x="19136" y="0"/>
                  </a:moveTo>
                  <a:lnTo>
                    <a:pt x="2744203" y="0"/>
                  </a:lnTo>
                  <a:cubicBezTo>
                    <a:pt x="2749279" y="0"/>
                    <a:pt x="2754146" y="2016"/>
                    <a:pt x="2757735" y="5605"/>
                  </a:cubicBezTo>
                  <a:cubicBezTo>
                    <a:pt x="2761323" y="9193"/>
                    <a:pt x="2763339" y="14061"/>
                    <a:pt x="2763339" y="19136"/>
                  </a:cubicBezTo>
                  <a:lnTo>
                    <a:pt x="2763339" y="680578"/>
                  </a:lnTo>
                  <a:cubicBezTo>
                    <a:pt x="2763339" y="685653"/>
                    <a:pt x="2761323" y="690520"/>
                    <a:pt x="2757735" y="694109"/>
                  </a:cubicBezTo>
                  <a:cubicBezTo>
                    <a:pt x="2754146" y="697698"/>
                    <a:pt x="2749279" y="699714"/>
                    <a:pt x="2744203" y="699714"/>
                  </a:cubicBezTo>
                  <a:lnTo>
                    <a:pt x="19136" y="699714"/>
                  </a:lnTo>
                  <a:cubicBezTo>
                    <a:pt x="14061" y="699714"/>
                    <a:pt x="9193" y="697698"/>
                    <a:pt x="5605" y="694109"/>
                  </a:cubicBezTo>
                  <a:cubicBezTo>
                    <a:pt x="2016" y="690520"/>
                    <a:pt x="0" y="685653"/>
                    <a:pt x="0" y="680578"/>
                  </a:cubicBezTo>
                  <a:lnTo>
                    <a:pt x="0" y="19136"/>
                  </a:lnTo>
                  <a:cubicBezTo>
                    <a:pt x="0" y="14061"/>
                    <a:pt x="2016" y="9193"/>
                    <a:pt x="5605" y="5605"/>
                  </a:cubicBezTo>
                  <a:cubicBezTo>
                    <a:pt x="9193" y="2016"/>
                    <a:pt x="14061" y="0"/>
                    <a:pt x="19136" y="0"/>
                  </a:cubicBezTo>
                  <a:close/>
                </a:path>
              </a:pathLst>
            </a:custGeom>
            <a:solidFill>
              <a:srgbClr val="000000">
                <a:alpha val="29804"/>
              </a:srgbClr>
            </a:solidFill>
            <a:ln w="28575" cap="sq">
              <a:solidFill>
                <a:srgbClr val="FFFFF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763339" cy="728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778055" y="3262475"/>
            <a:ext cx="633198" cy="466179"/>
          </a:xfrm>
          <a:custGeom>
            <a:avLst/>
            <a:gdLst/>
            <a:ahLst/>
            <a:cxnLst/>
            <a:rect l="l" t="t" r="r" b="b"/>
            <a:pathLst>
              <a:path w="633198" h="466179">
                <a:moveTo>
                  <a:pt x="0" y="0"/>
                </a:moveTo>
                <a:lnTo>
                  <a:pt x="633198" y="0"/>
                </a:lnTo>
                <a:lnTo>
                  <a:pt x="633198" y="466179"/>
                </a:lnTo>
                <a:lnTo>
                  <a:pt x="0" y="466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913" b="-17913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9803696" y="5143500"/>
            <a:ext cx="6877834" cy="1858523"/>
            <a:chOff x="0" y="0"/>
            <a:chExt cx="2763339" cy="7467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63339" cy="746708"/>
            </a:xfrm>
            <a:custGeom>
              <a:avLst/>
              <a:gdLst/>
              <a:ahLst/>
              <a:cxnLst/>
              <a:rect l="l" t="t" r="r" b="b"/>
              <a:pathLst>
                <a:path w="2763339" h="746708">
                  <a:moveTo>
                    <a:pt x="19136" y="0"/>
                  </a:moveTo>
                  <a:lnTo>
                    <a:pt x="2744203" y="0"/>
                  </a:lnTo>
                  <a:cubicBezTo>
                    <a:pt x="2749279" y="0"/>
                    <a:pt x="2754146" y="2016"/>
                    <a:pt x="2757735" y="5605"/>
                  </a:cubicBezTo>
                  <a:cubicBezTo>
                    <a:pt x="2761323" y="9193"/>
                    <a:pt x="2763339" y="14061"/>
                    <a:pt x="2763339" y="19136"/>
                  </a:cubicBezTo>
                  <a:lnTo>
                    <a:pt x="2763339" y="727572"/>
                  </a:lnTo>
                  <a:cubicBezTo>
                    <a:pt x="2763339" y="732647"/>
                    <a:pt x="2761323" y="737514"/>
                    <a:pt x="2757735" y="741103"/>
                  </a:cubicBezTo>
                  <a:cubicBezTo>
                    <a:pt x="2754146" y="744691"/>
                    <a:pt x="2749279" y="746708"/>
                    <a:pt x="2744203" y="746708"/>
                  </a:cubicBezTo>
                  <a:lnTo>
                    <a:pt x="19136" y="746708"/>
                  </a:lnTo>
                  <a:cubicBezTo>
                    <a:pt x="14061" y="746708"/>
                    <a:pt x="9193" y="744691"/>
                    <a:pt x="5605" y="741103"/>
                  </a:cubicBezTo>
                  <a:cubicBezTo>
                    <a:pt x="2016" y="737514"/>
                    <a:pt x="0" y="732647"/>
                    <a:pt x="0" y="727572"/>
                  </a:cubicBezTo>
                  <a:lnTo>
                    <a:pt x="0" y="19136"/>
                  </a:lnTo>
                  <a:cubicBezTo>
                    <a:pt x="0" y="14061"/>
                    <a:pt x="2016" y="9193"/>
                    <a:pt x="5605" y="5605"/>
                  </a:cubicBezTo>
                  <a:cubicBezTo>
                    <a:pt x="9193" y="2016"/>
                    <a:pt x="14061" y="0"/>
                    <a:pt x="19136" y="0"/>
                  </a:cubicBezTo>
                  <a:close/>
                </a:path>
              </a:pathLst>
            </a:custGeom>
            <a:solidFill>
              <a:srgbClr val="000000">
                <a:alpha val="29804"/>
              </a:srgbClr>
            </a:solidFill>
            <a:ln w="28575" cap="sq">
              <a:solidFill>
                <a:srgbClr val="FFFFF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763339" cy="775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325255" y="5271738"/>
            <a:ext cx="909339" cy="510149"/>
          </a:xfrm>
          <a:custGeom>
            <a:avLst/>
            <a:gdLst/>
            <a:ahLst/>
            <a:cxnLst/>
            <a:rect l="l" t="t" r="r" b="b"/>
            <a:pathLst>
              <a:path w="909339" h="510149">
                <a:moveTo>
                  <a:pt x="0" y="0"/>
                </a:moveTo>
                <a:lnTo>
                  <a:pt x="909339" y="0"/>
                </a:lnTo>
                <a:lnTo>
                  <a:pt x="909339" y="510149"/>
                </a:lnTo>
                <a:lnTo>
                  <a:pt x="0" y="510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7094" b="-1709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0325255" y="7544558"/>
            <a:ext cx="706460" cy="483998"/>
          </a:xfrm>
          <a:custGeom>
            <a:avLst/>
            <a:gdLst/>
            <a:ahLst/>
            <a:cxnLst/>
            <a:rect l="l" t="t" r="r" b="b"/>
            <a:pathLst>
              <a:path w="706460" h="483998">
                <a:moveTo>
                  <a:pt x="0" y="0"/>
                </a:moveTo>
                <a:lnTo>
                  <a:pt x="706460" y="0"/>
                </a:lnTo>
                <a:lnTo>
                  <a:pt x="706460" y="483999"/>
                </a:lnTo>
                <a:lnTo>
                  <a:pt x="0" y="483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7913" b="-179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10942809" y="923925"/>
            <a:ext cx="3912180" cy="92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8"/>
              </a:lnSpc>
              <a:spcBef>
                <a:spcPct val="0"/>
              </a:spcBef>
            </a:pPr>
            <a:r>
              <a:rPr lang="en-US" sz="544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Problema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38498" y="1996719"/>
            <a:ext cx="8720802" cy="87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Adultos</a:t>
            </a:r>
            <a:r>
              <a:rPr lang="en-US" sz="24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mayores</a:t>
            </a:r>
            <a:r>
              <a:rPr lang="en-US" sz="24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pueden</a:t>
            </a:r>
            <a:r>
              <a:rPr lang="en-US" sz="24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enfrentar</a:t>
            </a:r>
            <a:r>
              <a:rPr lang="en-US" sz="24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emergencias</a:t>
            </a:r>
            <a:r>
              <a:rPr lang="en-US" sz="24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mientras</a:t>
            </a:r>
            <a:r>
              <a:rPr lang="en-US" sz="24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están</a:t>
            </a:r>
            <a:r>
              <a:rPr lang="en-US" sz="24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solos o con </a:t>
            </a:r>
            <a:r>
              <a:rPr lang="en-US" sz="24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apoyo</a:t>
            </a:r>
            <a:r>
              <a:rPr lang="en-US" sz="24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limitado</a:t>
            </a:r>
            <a:r>
              <a:rPr lang="en-US" sz="24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94654" y="3364540"/>
            <a:ext cx="5024124" cy="30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8"/>
              </a:lnSpc>
            </a:pPr>
            <a:r>
              <a:rPr lang="en-US" sz="2255" u="sng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Riesgo de emergencia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34061" y="3962810"/>
            <a:ext cx="6417104" cy="695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0"/>
              </a:lnSpc>
              <a:spcBef>
                <a:spcPct val="0"/>
              </a:spcBef>
            </a:pPr>
            <a:r>
              <a:rPr lang="en-US" sz="1992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Caídas</a:t>
            </a:r>
            <a:r>
              <a:rPr lang="en-US" sz="1992">
                <a:solidFill>
                  <a:srgbClr val="FFFFFF"/>
                </a:solidFill>
                <a:ea typeface="Garet"/>
                <a:cs typeface="Garet"/>
                <a:sym typeface="Garet"/>
              </a:rPr>
              <a:t>, m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alest</a:t>
            </a:r>
            <a:r>
              <a:rPr lang="en-US" sz="1992">
                <a:solidFill>
                  <a:srgbClr val="FFFFFF"/>
                </a:solidFill>
                <a:ea typeface="Garet"/>
                <a:cs typeface="Garet"/>
                <a:sym typeface="Garet"/>
              </a:rPr>
              <a:t>ar</a:t>
            </a:r>
            <a:r>
              <a:rPr lang="en-US" sz="1992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, </a:t>
            </a:r>
            <a:r>
              <a:rPr lang="en-US" sz="1992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desorientación</a:t>
            </a:r>
            <a:r>
              <a:rPr lang="en-US" sz="1992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o </a:t>
            </a:r>
            <a:r>
              <a:rPr lang="en-US" sz="1992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dificultad</a:t>
            </a:r>
            <a:r>
              <a:rPr lang="en-US" sz="1992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de </a:t>
            </a:r>
            <a:r>
              <a:rPr lang="en-US" sz="1992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movilidad</a:t>
            </a:r>
            <a:r>
              <a:rPr lang="en-US" sz="1992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requieren</a:t>
            </a:r>
            <a:r>
              <a:rPr lang="en-US" sz="1992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respuesta</a:t>
            </a:r>
            <a:r>
              <a:rPr lang="en-US" sz="1992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rápida</a:t>
            </a:r>
            <a:r>
              <a:rPr lang="en-US" sz="1992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61673" y="5335852"/>
            <a:ext cx="5599762" cy="265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1955" u="sng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Dificultad de comunicación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74979" y="5882618"/>
            <a:ext cx="6535267" cy="673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11"/>
              </a:lnSpc>
              <a:spcBef>
                <a:spcPct val="0"/>
              </a:spcBef>
            </a:pPr>
            <a:r>
              <a:rPr lang="en-US" sz="1992" dirty="0">
                <a:solidFill>
                  <a:srgbClr val="FFFFFF"/>
                </a:solidFill>
                <a:sym typeface="Garet"/>
              </a:rPr>
              <a:t>En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una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emergencia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el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usuario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puede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no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poder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llamar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,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buscar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contactos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o usar el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teléfono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normalmente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803696" y="7411598"/>
            <a:ext cx="6877834" cy="1693599"/>
            <a:chOff x="0" y="0"/>
            <a:chExt cx="2763339" cy="68044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63339" cy="680445"/>
            </a:xfrm>
            <a:custGeom>
              <a:avLst/>
              <a:gdLst/>
              <a:ahLst/>
              <a:cxnLst/>
              <a:rect l="l" t="t" r="r" b="b"/>
              <a:pathLst>
                <a:path w="2763339" h="680445">
                  <a:moveTo>
                    <a:pt x="19136" y="0"/>
                  </a:moveTo>
                  <a:lnTo>
                    <a:pt x="2744203" y="0"/>
                  </a:lnTo>
                  <a:cubicBezTo>
                    <a:pt x="2749279" y="0"/>
                    <a:pt x="2754146" y="2016"/>
                    <a:pt x="2757735" y="5605"/>
                  </a:cubicBezTo>
                  <a:cubicBezTo>
                    <a:pt x="2761323" y="9193"/>
                    <a:pt x="2763339" y="14061"/>
                    <a:pt x="2763339" y="19136"/>
                  </a:cubicBezTo>
                  <a:lnTo>
                    <a:pt x="2763339" y="661310"/>
                  </a:lnTo>
                  <a:cubicBezTo>
                    <a:pt x="2763339" y="666385"/>
                    <a:pt x="2761323" y="671252"/>
                    <a:pt x="2757735" y="674841"/>
                  </a:cubicBezTo>
                  <a:cubicBezTo>
                    <a:pt x="2754146" y="678429"/>
                    <a:pt x="2749279" y="680445"/>
                    <a:pt x="2744203" y="680445"/>
                  </a:cubicBezTo>
                  <a:lnTo>
                    <a:pt x="19136" y="680445"/>
                  </a:lnTo>
                  <a:cubicBezTo>
                    <a:pt x="14061" y="680445"/>
                    <a:pt x="9193" y="678429"/>
                    <a:pt x="5605" y="674841"/>
                  </a:cubicBezTo>
                  <a:cubicBezTo>
                    <a:pt x="2016" y="671252"/>
                    <a:pt x="0" y="666385"/>
                    <a:pt x="0" y="661310"/>
                  </a:cubicBezTo>
                  <a:lnTo>
                    <a:pt x="0" y="19136"/>
                  </a:lnTo>
                  <a:cubicBezTo>
                    <a:pt x="0" y="14061"/>
                    <a:pt x="2016" y="9193"/>
                    <a:pt x="5605" y="5605"/>
                  </a:cubicBezTo>
                  <a:cubicBezTo>
                    <a:pt x="9193" y="2016"/>
                    <a:pt x="14061" y="0"/>
                    <a:pt x="19136" y="0"/>
                  </a:cubicBezTo>
                  <a:close/>
                </a:path>
              </a:pathLst>
            </a:custGeom>
            <a:solidFill>
              <a:srgbClr val="000000">
                <a:alpha val="29804"/>
              </a:srgbClr>
            </a:solidFill>
            <a:ln w="28575" cap="sq">
              <a:solidFill>
                <a:srgbClr val="FFFFF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763339" cy="70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825011" y="7655533"/>
            <a:ext cx="5024124" cy="30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8"/>
              </a:lnSpc>
            </a:pPr>
            <a:r>
              <a:rPr lang="en-US" sz="2255" u="sng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Falta de seguimiento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34061" y="8190482"/>
            <a:ext cx="6417104" cy="695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0"/>
              </a:lnSpc>
              <a:spcBef>
                <a:spcPct val="0"/>
              </a:spcBef>
            </a:pPr>
            <a:r>
              <a:rPr lang="en-US" sz="1992" dirty="0">
                <a:solidFill>
                  <a:srgbClr val="FFFFFF"/>
                </a:solidFill>
                <a:sym typeface="Garet"/>
              </a:rPr>
              <a:t>Un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mensaje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aislado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no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asegura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que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alguien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responda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ni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permite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medir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tiempos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 de </a:t>
            </a:r>
            <a:r>
              <a:rPr lang="en-US" sz="1992" dirty="0" err="1">
                <a:solidFill>
                  <a:srgbClr val="FFFFFF"/>
                </a:solidFill>
                <a:sym typeface="Garet"/>
              </a:rPr>
              <a:t>atención</a:t>
            </a:r>
            <a:r>
              <a:rPr lang="en-US" sz="1992" dirty="0">
                <a:solidFill>
                  <a:srgbClr val="FFFFFF"/>
                </a:solidFill>
                <a:sym typeface="Gare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51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567580" y="2598629"/>
            <a:ext cx="9118428" cy="2406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QuickHelp propone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una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aplicación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móvil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que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permite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a la persona mayor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pedir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ayuda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mediante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un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botón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de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emergencia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o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una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frase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de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voz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. La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alerta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se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envía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a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su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red de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apoyo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junto con la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ubicación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disponible para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que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alguien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pueda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 responder </a:t>
            </a:r>
            <a:r>
              <a:rPr lang="en-US" sz="2699" dirty="0" err="1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rápidamente</a:t>
            </a:r>
            <a:r>
              <a:rPr lang="en-US" sz="2699" dirty="0">
                <a:gradFill>
                  <a:gsLst>
                    <a:gs pos="0">
                      <a:srgbClr val="3A0443">
                        <a:alpha val="100000"/>
                      </a:srgbClr>
                    </a:gs>
                    <a:gs pos="100000">
                      <a:srgbClr val="1A1E83">
                        <a:alpha val="100000"/>
                      </a:srgbClr>
                    </a:gs>
                  </a:gsLst>
                  <a:lin ang="2700000"/>
                </a:gradFill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4" name="Freeform 4"/>
          <p:cNvSpPr/>
          <p:nvPr/>
        </p:nvSpPr>
        <p:spPr>
          <a:xfrm>
            <a:off x="1676400" y="5370270"/>
            <a:ext cx="4593833" cy="4398595"/>
          </a:xfrm>
          <a:custGeom>
            <a:avLst/>
            <a:gdLst/>
            <a:ahLst/>
            <a:cxnLst/>
            <a:rect l="l" t="t" r="r" b="b"/>
            <a:pathLst>
              <a:path w="4593833" h="4398595">
                <a:moveTo>
                  <a:pt x="0" y="0"/>
                </a:moveTo>
                <a:lnTo>
                  <a:pt x="4593832" y="0"/>
                </a:lnTo>
                <a:lnTo>
                  <a:pt x="4593832" y="4398595"/>
                </a:lnTo>
                <a:lnTo>
                  <a:pt x="0" y="439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2895600" y="7010789"/>
            <a:ext cx="2301685" cy="423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798" dirty="0">
                <a:solidFill>
                  <a:srgbClr val="FFFFFF"/>
                </a:solidFill>
                <a:highlight>
                  <a:srgbClr val="000000"/>
                </a:highlight>
                <a:ea typeface="Agrandir Narrow"/>
                <a:cs typeface="Agrandir Narrow"/>
                <a:sym typeface="Agrandir Narrow"/>
              </a:rPr>
              <a:t>Red de </a:t>
            </a:r>
            <a:r>
              <a:rPr lang="en-US" sz="2798" dirty="0" err="1">
                <a:solidFill>
                  <a:srgbClr val="FFFFFF"/>
                </a:solidFill>
                <a:highlight>
                  <a:srgbClr val="000000"/>
                </a:highlight>
                <a:ea typeface="Agrandir Narrow"/>
                <a:cs typeface="Agrandir Narrow"/>
                <a:sym typeface="Agrandir Narrow"/>
              </a:rPr>
              <a:t>apoyo</a:t>
            </a:r>
            <a:endParaRPr lang="en-US" sz="2798" dirty="0">
              <a:solidFill>
                <a:srgbClr val="FFFFFF"/>
              </a:solidFill>
              <a:highlight>
                <a:srgbClr val="000000"/>
              </a:highlight>
              <a:ea typeface="Agrandir Narrow"/>
              <a:cs typeface="Agrandir Narrow"/>
              <a:sym typeface="Agrandir Na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60592" y="997979"/>
            <a:ext cx="565798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B7D4F7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Gestion de Emergencia</a:t>
            </a:r>
          </a:p>
        </p:txBody>
      </p:sp>
      <p:sp>
        <p:nvSpPr>
          <p:cNvPr id="3" name="Freeform 3"/>
          <p:cNvSpPr/>
          <p:nvPr/>
        </p:nvSpPr>
        <p:spPr>
          <a:xfrm>
            <a:off x="11397778" y="3789121"/>
            <a:ext cx="10568481" cy="10568481"/>
          </a:xfrm>
          <a:custGeom>
            <a:avLst/>
            <a:gdLst/>
            <a:ahLst/>
            <a:cxnLst/>
            <a:rect l="l" t="t" r="r" b="b"/>
            <a:pathLst>
              <a:path w="10568481" h="10568481">
                <a:moveTo>
                  <a:pt x="0" y="0"/>
                </a:moveTo>
                <a:lnTo>
                  <a:pt x="10568481" y="0"/>
                </a:lnTo>
                <a:lnTo>
                  <a:pt x="10568481" y="10568481"/>
                </a:lnTo>
                <a:lnTo>
                  <a:pt x="0" y="10568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8016696" cy="10287000"/>
            <a:chOff x="0" y="0"/>
            <a:chExt cx="21113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1393" cy="2709333"/>
            </a:xfrm>
            <a:custGeom>
              <a:avLst/>
              <a:gdLst/>
              <a:ahLst/>
              <a:cxnLst/>
              <a:rect l="l" t="t" r="r" b="b"/>
              <a:pathLst>
                <a:path w="2111393" h="2709333">
                  <a:moveTo>
                    <a:pt x="0" y="0"/>
                  </a:moveTo>
                  <a:lnTo>
                    <a:pt x="2111393" y="0"/>
                  </a:lnTo>
                  <a:lnTo>
                    <a:pt x="21113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113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446429" y="914847"/>
            <a:ext cx="1028305" cy="1028305"/>
          </a:xfrm>
          <a:custGeom>
            <a:avLst/>
            <a:gdLst/>
            <a:ahLst/>
            <a:cxnLst/>
            <a:rect l="l" t="t" r="r" b="b"/>
            <a:pathLst>
              <a:path w="1028305" h="1028305">
                <a:moveTo>
                  <a:pt x="0" y="0"/>
                </a:moveTo>
                <a:lnTo>
                  <a:pt x="1028305" y="0"/>
                </a:lnTo>
                <a:lnTo>
                  <a:pt x="1028305" y="1028305"/>
                </a:lnTo>
                <a:lnTo>
                  <a:pt x="0" y="102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6210840" y="2632142"/>
            <a:ext cx="471179" cy="471179"/>
          </a:xfrm>
          <a:custGeom>
            <a:avLst/>
            <a:gdLst/>
            <a:ahLst/>
            <a:cxnLst/>
            <a:rect l="l" t="t" r="r" b="b"/>
            <a:pathLst>
              <a:path w="471179" h="471179">
                <a:moveTo>
                  <a:pt x="0" y="0"/>
                </a:moveTo>
                <a:lnTo>
                  <a:pt x="471179" y="0"/>
                </a:lnTo>
                <a:lnTo>
                  <a:pt x="471179" y="471179"/>
                </a:lnTo>
                <a:lnTo>
                  <a:pt x="0" y="471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-5736473" y="-140741"/>
            <a:ext cx="10568481" cy="10568481"/>
          </a:xfrm>
          <a:custGeom>
            <a:avLst/>
            <a:gdLst/>
            <a:ahLst/>
            <a:cxnLst/>
            <a:rect l="l" t="t" r="r" b="b"/>
            <a:pathLst>
              <a:path w="10568481" h="10568481">
                <a:moveTo>
                  <a:pt x="0" y="0"/>
                </a:moveTo>
                <a:lnTo>
                  <a:pt x="10568481" y="0"/>
                </a:lnTo>
                <a:lnTo>
                  <a:pt x="10568481" y="10568482"/>
                </a:lnTo>
                <a:lnTo>
                  <a:pt x="0" y="10568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6444592" y="8622411"/>
            <a:ext cx="471179" cy="471179"/>
          </a:xfrm>
          <a:custGeom>
            <a:avLst/>
            <a:gdLst/>
            <a:ahLst/>
            <a:cxnLst/>
            <a:rect l="l" t="t" r="r" b="b"/>
            <a:pathLst>
              <a:path w="471179" h="471179">
                <a:moveTo>
                  <a:pt x="0" y="0"/>
                </a:moveTo>
                <a:lnTo>
                  <a:pt x="471179" y="0"/>
                </a:lnTo>
                <a:lnTo>
                  <a:pt x="471179" y="471179"/>
                </a:lnTo>
                <a:lnTo>
                  <a:pt x="0" y="471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028700" y="1428999"/>
            <a:ext cx="1028305" cy="1028305"/>
          </a:xfrm>
          <a:custGeom>
            <a:avLst/>
            <a:gdLst/>
            <a:ahLst/>
            <a:cxnLst/>
            <a:rect l="l" t="t" r="r" b="b"/>
            <a:pathLst>
              <a:path w="1028305" h="1028305">
                <a:moveTo>
                  <a:pt x="0" y="0"/>
                </a:moveTo>
                <a:lnTo>
                  <a:pt x="1028305" y="0"/>
                </a:lnTo>
                <a:lnTo>
                  <a:pt x="1028305" y="1028305"/>
                </a:lnTo>
                <a:lnTo>
                  <a:pt x="0" y="102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-179896" y="964752"/>
            <a:ext cx="8031478" cy="8212834"/>
          </a:xfrm>
          <a:custGeom>
            <a:avLst/>
            <a:gdLst/>
            <a:ahLst/>
            <a:cxnLst/>
            <a:rect l="l" t="t" r="r" b="b"/>
            <a:pathLst>
              <a:path w="8031478" h="8212834">
                <a:moveTo>
                  <a:pt x="0" y="0"/>
                </a:moveTo>
                <a:lnTo>
                  <a:pt x="8031478" y="0"/>
                </a:lnTo>
                <a:lnTo>
                  <a:pt x="8031478" y="8212834"/>
                </a:lnTo>
                <a:lnTo>
                  <a:pt x="0" y="8212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9003107" y="3128510"/>
            <a:ext cx="8341995" cy="3791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revisar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la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información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disponible de la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emergencia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;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intentar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contactar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nuevamente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a la red de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apoyo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;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comunicarse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directamente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con el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adulto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mayor;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evaluar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la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gravedad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de la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situación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;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contactar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a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servicios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externos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de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emergencia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,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como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ambulancia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, Carabineros o Bomberos,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cuando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corresponda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;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registrar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acciones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y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observaciones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en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el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sistema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;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dar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seguimiento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continuo a la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emergencia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hasta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que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el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caso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sea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resuelto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;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y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finalmente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cerrar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la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alerta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cuando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la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situación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haya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99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finalizado</a:t>
            </a:r>
            <a:r>
              <a:rPr lang="en-US" sz="2099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13266" y="1787056"/>
            <a:ext cx="6999989" cy="670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Cuando </a:t>
            </a:r>
            <a:r>
              <a:rPr lang="en-US" sz="18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una</a:t>
            </a:r>
            <a:r>
              <a:rPr lang="en-US" sz="18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alerta</a:t>
            </a:r>
            <a:r>
              <a:rPr lang="en-US" sz="18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no es </a:t>
            </a:r>
            <a:r>
              <a:rPr lang="en-US" sz="18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atendida</a:t>
            </a:r>
            <a:r>
              <a:rPr lang="en-US" sz="18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por</a:t>
            </a:r>
            <a:r>
              <a:rPr lang="en-US" sz="18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la red de </a:t>
            </a:r>
            <a:r>
              <a:rPr lang="en-US" sz="18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apoyo</a:t>
            </a:r>
            <a:r>
              <a:rPr lang="en-US" sz="18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dentro</a:t>
            </a:r>
            <a:r>
              <a:rPr lang="en-US" sz="18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del </a:t>
            </a:r>
            <a:r>
              <a:rPr lang="en-US" sz="18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tiempo</a:t>
            </a:r>
            <a:r>
              <a:rPr lang="en-US" sz="18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definido</a:t>
            </a:r>
            <a:r>
              <a:rPr lang="en-US" sz="18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, la Central de </a:t>
            </a:r>
            <a:r>
              <a:rPr lang="en-US" sz="18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Gestión</a:t>
            </a:r>
            <a:r>
              <a:rPr lang="en-US" sz="18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toma</a:t>
            </a:r>
            <a:r>
              <a:rPr lang="en-US" sz="18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 el control del </a:t>
            </a:r>
            <a:r>
              <a:rPr lang="en-US" sz="1899" dirty="0" err="1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caso</a:t>
            </a:r>
            <a:r>
              <a:rPr lang="en-US" sz="1899" dirty="0">
                <a:solidFill>
                  <a:srgbClr val="FFFFFF"/>
                </a:solidFill>
                <a:latin typeface="+mj-l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94728" y="7392791"/>
            <a:ext cx="7537514" cy="146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21"/>
              </a:lnSpc>
              <a:spcBef>
                <a:spcPct val="0"/>
              </a:spcBef>
            </a:pP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La Central de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Gestión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asume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el control de las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alertas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escaladas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,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contacta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a la red de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apoyo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o al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adulto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mayor y,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según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la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gravedad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del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caso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,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puede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coordinar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ayuda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externa y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hacer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seguimiento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hasta el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cierre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 de la </a:t>
            </a:r>
            <a:r>
              <a:rPr lang="en-US" sz="2086" dirty="0" err="1">
                <a:solidFill>
                  <a:srgbClr val="FFFFFF"/>
                </a:solidFill>
                <a:ea typeface="Garet"/>
                <a:cs typeface="Garet"/>
                <a:sym typeface="Garet"/>
              </a:rPr>
              <a:t>emergencia</a:t>
            </a:r>
            <a:r>
              <a:rPr lang="en-US" sz="2086" dirty="0">
                <a:solidFill>
                  <a:srgbClr val="FFFFFF"/>
                </a:solidFill>
                <a:ea typeface="Garet"/>
                <a:cs typeface="Garet"/>
                <a:sym typeface="Gare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0210800" y="3162300"/>
            <a:ext cx="7033440" cy="1717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  <a:spcBef>
                <a:spcPct val="0"/>
              </a:spcBef>
            </a:pP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Usamos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una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arquitectura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cliente-servidor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por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capas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. Esta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arquitectura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separa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la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interfaz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que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utilizan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los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usuarios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, la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lógica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principal del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sistema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y el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almacenamiento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de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los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ea typeface="Garet"/>
                <a:cs typeface="Garet"/>
                <a:sym typeface="Garet"/>
              </a:rPr>
              <a:t>datos</a:t>
            </a:r>
            <a:r>
              <a:rPr lang="en-US" sz="2436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060937" y="7221251"/>
            <a:ext cx="7761070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436" dirty="0">
                <a:solidFill>
                  <a:srgbClr val="000000"/>
                </a:solidFill>
                <a:sym typeface="Garet"/>
              </a:rPr>
              <a:t>La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elegimos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porque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permite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mantener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QuickHelp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más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ordenado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,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seguro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y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fácil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de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mantener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,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además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de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facilitar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que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la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aplicación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móvil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y la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plataforma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web se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conecten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a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una</a:t>
            </a:r>
            <a:endParaRPr lang="en-US" sz="2436" dirty="0">
              <a:solidFill>
                <a:srgbClr val="000000"/>
              </a:solidFill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060937" y="8282336"/>
            <a:ext cx="6703063" cy="737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436" dirty="0" err="1">
                <a:solidFill>
                  <a:srgbClr val="000000"/>
                </a:solidFill>
                <a:sym typeface="Garet"/>
              </a:rPr>
              <a:t>misma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lógica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central sin acceder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directamente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 a la base de </a:t>
            </a:r>
            <a:r>
              <a:rPr lang="en-US" sz="2436" dirty="0" err="1">
                <a:solidFill>
                  <a:srgbClr val="000000"/>
                </a:solidFill>
                <a:sym typeface="Garet"/>
              </a:rPr>
              <a:t>datos</a:t>
            </a:r>
            <a:r>
              <a:rPr lang="en-US" sz="2436" dirty="0">
                <a:solidFill>
                  <a:srgbClr val="000000"/>
                </a:solidFill>
                <a:sym typeface="Garet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516" y="799485"/>
            <a:ext cx="15147273" cy="9072013"/>
          </a:xfrm>
          <a:custGeom>
            <a:avLst/>
            <a:gdLst/>
            <a:ahLst/>
            <a:cxnLst/>
            <a:rect l="l" t="t" r="r" b="b"/>
            <a:pathLst>
              <a:path w="15645758" h="9666344">
                <a:moveTo>
                  <a:pt x="0" y="0"/>
                </a:moveTo>
                <a:lnTo>
                  <a:pt x="15645758" y="0"/>
                </a:lnTo>
                <a:lnTo>
                  <a:pt x="15645758" y="9666344"/>
                </a:lnTo>
                <a:lnTo>
                  <a:pt x="0" y="9666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6" t="-2409" b="-6646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3" name="Freeform 3"/>
          <p:cNvSpPr/>
          <p:nvPr/>
        </p:nvSpPr>
        <p:spPr>
          <a:xfrm>
            <a:off x="1275905" y="2173716"/>
            <a:ext cx="9741172" cy="7697782"/>
          </a:xfrm>
          <a:custGeom>
            <a:avLst/>
            <a:gdLst/>
            <a:ahLst/>
            <a:cxnLst/>
            <a:rect l="l" t="t" r="r" b="b"/>
            <a:pathLst>
              <a:path w="9741172" h="7697782">
                <a:moveTo>
                  <a:pt x="0" y="0"/>
                </a:moveTo>
                <a:lnTo>
                  <a:pt x="9741172" y="0"/>
                </a:lnTo>
                <a:lnTo>
                  <a:pt x="9741172" y="7697782"/>
                </a:lnTo>
                <a:lnTo>
                  <a:pt x="0" y="769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66" t="-19489" r="-46960" b="-58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747309" y="338687"/>
            <a:ext cx="10705981" cy="154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1"/>
              </a:lnSpc>
            </a:pPr>
            <a:r>
              <a:rPr lang="en-US" sz="4782">
                <a:solidFill>
                  <a:srgbClr val="1B2558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Tecnologías seleccionadas</a:t>
            </a:r>
          </a:p>
          <a:p>
            <a:pPr algn="l">
              <a:lnSpc>
                <a:spcPts val="2153"/>
              </a:lnSpc>
            </a:pPr>
            <a:endParaRPr lang="en-US" sz="4782">
              <a:solidFill>
                <a:srgbClr val="1B2558"/>
              </a:solidFill>
              <a:latin typeface="Open Sauce SemiBold"/>
              <a:ea typeface="Open Sauce SemiBold"/>
              <a:cs typeface="Open Sauce SemiBold"/>
              <a:sym typeface="Open Sauce SemiBold"/>
            </a:endParaRPr>
          </a:p>
          <a:p>
            <a:pPr algn="l">
              <a:lnSpc>
                <a:spcPts val="2153"/>
              </a:lnSpc>
            </a:pPr>
            <a:r>
              <a:rPr lang="en-US" sz="1742">
                <a:solidFill>
                  <a:srgbClr val="1B2558"/>
                </a:solidFill>
                <a:latin typeface="Inter"/>
                <a:ea typeface="Inter"/>
                <a:cs typeface="Inter"/>
                <a:sym typeface="Inter"/>
              </a:rPr>
              <a:t>Para desarrollar QuickHelp seleccionamos tecnologías modernas, seguras y accesibles para el equipo,</a:t>
            </a:r>
          </a:p>
          <a:p>
            <a:pPr algn="l">
              <a:lnSpc>
                <a:spcPts val="2153"/>
              </a:lnSpc>
            </a:pPr>
            <a:r>
              <a:rPr lang="en-US" sz="1742">
                <a:solidFill>
                  <a:srgbClr val="1B2558"/>
                </a:solidFill>
                <a:latin typeface="Inter"/>
                <a:ea typeface="Inter"/>
                <a:cs typeface="Inter"/>
                <a:sym typeface="Inter"/>
              </a:rPr>
              <a:t>buscando reducir la complejidad del proyecto y facilitar la integración entre todos sus componentes: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91852" y="2848110"/>
            <a:ext cx="4327632" cy="2385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82"/>
              </a:lnSpc>
            </a:pPr>
            <a:r>
              <a:rPr lang="en-US" sz="2634" b="1" dirty="0">
                <a:solidFill>
                  <a:srgbClr val="1B2458"/>
                </a:solidFill>
                <a:latin typeface="+mj-lt"/>
                <a:ea typeface="Open Sauce SemiBold"/>
                <a:cs typeface="Open Sauce SemiBold"/>
                <a:sym typeface="Open Sauce SemiBold"/>
              </a:rPr>
              <a:t>¿Por </a:t>
            </a:r>
            <a:r>
              <a:rPr lang="en-US" sz="2634" b="1" dirty="0" err="1">
                <a:solidFill>
                  <a:srgbClr val="1B2458"/>
                </a:solidFill>
                <a:latin typeface="+mj-lt"/>
                <a:ea typeface="Open Sauce SemiBold"/>
                <a:cs typeface="Open Sauce SemiBold"/>
                <a:sym typeface="Open Sauce SemiBold"/>
              </a:rPr>
              <a:t>qué</a:t>
            </a:r>
            <a:r>
              <a:rPr lang="en-US" sz="2634" b="1" dirty="0">
                <a:solidFill>
                  <a:srgbClr val="1B2458"/>
                </a:solidFill>
                <a:latin typeface="+mj-lt"/>
                <a:ea typeface="Open Sauce SemiBold"/>
                <a:cs typeface="Open Sauce SemiBold"/>
                <a:sym typeface="Open Sauce SemiBold"/>
              </a:rPr>
              <a:t> </a:t>
            </a:r>
            <a:r>
              <a:rPr lang="en-US" sz="2634" b="1" dirty="0" err="1">
                <a:solidFill>
                  <a:srgbClr val="1B2458"/>
                </a:solidFill>
                <a:latin typeface="+mj-lt"/>
                <a:ea typeface="Open Sauce SemiBold"/>
                <a:cs typeface="Open Sauce SemiBold"/>
                <a:sym typeface="Open Sauce SemiBold"/>
              </a:rPr>
              <a:t>estas</a:t>
            </a:r>
            <a:r>
              <a:rPr lang="en-US" sz="2634" b="1" dirty="0">
                <a:solidFill>
                  <a:srgbClr val="1B2458"/>
                </a:solidFill>
                <a:latin typeface="+mj-lt"/>
                <a:ea typeface="Open Sauce SemiBold"/>
                <a:cs typeface="Open Sauce SemiBold"/>
                <a:sym typeface="Open Sauce SemiBold"/>
              </a:rPr>
              <a:t> </a:t>
            </a:r>
            <a:r>
              <a:rPr lang="en-US" sz="2634" b="1" dirty="0" err="1">
                <a:solidFill>
                  <a:srgbClr val="1B2458"/>
                </a:solidFill>
                <a:latin typeface="+mj-lt"/>
                <a:ea typeface="Open Sauce SemiBold"/>
                <a:cs typeface="Open Sauce SemiBold"/>
                <a:sym typeface="Open Sauce SemiBold"/>
              </a:rPr>
              <a:t>tecnologías</a:t>
            </a:r>
            <a:r>
              <a:rPr lang="en-US" sz="2634" b="1" dirty="0">
                <a:solidFill>
                  <a:srgbClr val="1B2458"/>
                </a:solidFill>
                <a:latin typeface="+mj-lt"/>
                <a:ea typeface="Open Sauce SemiBold"/>
                <a:cs typeface="Open Sauce SemiBold"/>
                <a:sym typeface="Open Sauce SemiBold"/>
              </a:rPr>
              <a:t>?</a:t>
            </a:r>
          </a:p>
          <a:p>
            <a:pPr algn="l">
              <a:lnSpc>
                <a:spcPts val="2545"/>
              </a:lnSpc>
            </a:pP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Las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elegimos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porque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permiten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construir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una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solución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móvil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y web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integrada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, son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ampliamente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utilizadas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,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cuentan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con Buena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documentación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y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permiten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desarrollar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QuickHelp sin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incorporar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tecnologías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1B2458"/>
                </a:solidFill>
                <a:ea typeface="Inter"/>
                <a:cs typeface="Inter"/>
                <a:sym typeface="Inter"/>
              </a:rPr>
              <a:t>innecesariamentecomplejas</a:t>
            </a:r>
            <a:r>
              <a:rPr lang="en-US" sz="2000" dirty="0">
                <a:solidFill>
                  <a:srgbClr val="1B2458"/>
                </a:solidFill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91215" y="6246063"/>
            <a:ext cx="2128905" cy="219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43"/>
              </a:lnSpc>
              <a:spcBef>
                <a:spcPct val="0"/>
              </a:spcBef>
            </a:pPr>
            <a:r>
              <a:rPr lang="en-US" sz="1378" b="1" dirty="0" err="1">
                <a:solidFill>
                  <a:srgbClr val="1B2458"/>
                </a:solidFill>
                <a:latin typeface="+mj-lt"/>
                <a:ea typeface="Inter Bold"/>
                <a:sym typeface="Inter Bold"/>
              </a:rPr>
              <a:t>Facilitanel</a:t>
            </a:r>
            <a:r>
              <a:rPr lang="en-US" sz="1378" b="1" dirty="0">
                <a:solidFill>
                  <a:srgbClr val="1B2458"/>
                </a:solidFill>
                <a:latin typeface="+mj-lt"/>
                <a:ea typeface="Inter Bold"/>
                <a:sym typeface="Inter Bold"/>
              </a:rPr>
              <a:t> </a:t>
            </a:r>
            <a:r>
              <a:rPr lang="en-US" sz="1378" b="1" dirty="0" err="1">
                <a:solidFill>
                  <a:srgbClr val="1B2458"/>
                </a:solidFill>
                <a:latin typeface="+mj-lt"/>
                <a:ea typeface="Inter Bold"/>
                <a:sym typeface="Inter Bold"/>
              </a:rPr>
              <a:t>desarrollo</a:t>
            </a:r>
            <a:endParaRPr lang="en-US" sz="1378" b="1" dirty="0">
              <a:solidFill>
                <a:srgbClr val="1B2458"/>
              </a:solidFill>
              <a:latin typeface="+mj-lt"/>
              <a:ea typeface="Inter Bold"/>
              <a:sym typeface="Inte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391215" y="7130008"/>
            <a:ext cx="2028025" cy="452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843"/>
              </a:lnSpc>
              <a:spcBef>
                <a:spcPct val="0"/>
              </a:spcBef>
            </a:pPr>
            <a:r>
              <a:rPr lang="en-US" sz="1378" b="1" dirty="0">
                <a:solidFill>
                  <a:srgbClr val="1B2458"/>
                </a:solidFill>
                <a:latin typeface="+mj-lt"/>
                <a:ea typeface="Inter Bold"/>
                <a:sym typeface="Inter Bold"/>
              </a:rPr>
              <a:t>Son </a:t>
            </a:r>
            <a:r>
              <a:rPr lang="en-US" sz="1378" b="1" dirty="0" err="1">
                <a:solidFill>
                  <a:srgbClr val="1B2458"/>
                </a:solidFill>
                <a:latin typeface="+mj-lt"/>
                <a:ea typeface="Inter Bold"/>
                <a:sym typeface="Inter Bold"/>
              </a:rPr>
              <a:t>tecnologías</a:t>
            </a:r>
            <a:r>
              <a:rPr lang="en-US" sz="1378" b="1" dirty="0">
                <a:solidFill>
                  <a:srgbClr val="1B2458"/>
                </a:solidFill>
                <a:latin typeface="+mj-lt"/>
                <a:ea typeface="Inter Bold"/>
                <a:sym typeface="Inter Bold"/>
              </a:rPr>
              <a:t> con </a:t>
            </a:r>
            <a:r>
              <a:rPr lang="en-US" sz="1378" b="1" dirty="0" err="1">
                <a:solidFill>
                  <a:srgbClr val="1B2458"/>
                </a:solidFill>
                <a:latin typeface="+mj-lt"/>
                <a:ea typeface="Inter Bold"/>
                <a:sym typeface="Inter Bold"/>
              </a:rPr>
              <a:t>amplia</a:t>
            </a:r>
            <a:r>
              <a:rPr lang="en-US" sz="1378" b="1" dirty="0">
                <a:solidFill>
                  <a:srgbClr val="1B2458"/>
                </a:solidFill>
                <a:latin typeface="+mj-lt"/>
                <a:ea typeface="Inter Bold"/>
                <a:sym typeface="Inter Bold"/>
              </a:rPr>
              <a:t> comunidad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20399" y="8038555"/>
            <a:ext cx="2503337" cy="450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843"/>
              </a:lnSpc>
              <a:spcBef>
                <a:spcPct val="0"/>
              </a:spcBef>
            </a:pPr>
            <a:r>
              <a:rPr lang="en-US" sz="1378" b="1" u="none" strike="noStrike" dirty="0" err="1">
                <a:solidFill>
                  <a:srgbClr val="1B2458"/>
                </a:solidFill>
                <a:latin typeface="+mj-lt"/>
                <a:ea typeface="Inter Bold"/>
                <a:cs typeface="Inter Bold"/>
                <a:sym typeface="Inter Bold"/>
              </a:rPr>
              <a:t>Permiten</a:t>
            </a:r>
            <a:r>
              <a:rPr lang="en-US" sz="1378" b="1" u="none" strike="noStrike" dirty="0">
                <a:solidFill>
                  <a:srgbClr val="1B2458"/>
                </a:solidFill>
                <a:latin typeface="+mj-lt"/>
                <a:ea typeface="Inter Bold"/>
                <a:cs typeface="Inter Bold"/>
                <a:sym typeface="Inter Bold"/>
              </a:rPr>
              <a:t> construer un </a:t>
            </a:r>
            <a:r>
              <a:rPr lang="en-US" sz="1378" b="1" u="none" strike="noStrike" dirty="0" err="1">
                <a:solidFill>
                  <a:srgbClr val="1B2458"/>
                </a:solidFill>
                <a:latin typeface="+mj-lt"/>
                <a:ea typeface="Inter Bold"/>
                <a:cs typeface="Inter Bold"/>
                <a:sym typeface="Inter Bold"/>
              </a:rPr>
              <a:t>sistema</a:t>
            </a:r>
            <a:r>
              <a:rPr lang="en-US" sz="1378" b="1" u="none" strike="noStrike" dirty="0">
                <a:solidFill>
                  <a:srgbClr val="1B2458"/>
                </a:solidFill>
                <a:latin typeface="+mj-lt"/>
                <a:ea typeface="Inter Bold"/>
                <a:cs typeface="Inter Bold"/>
                <a:sym typeface="Inter Bold"/>
              </a:rPr>
              <a:t> </a:t>
            </a:r>
            <a:r>
              <a:rPr lang="en-US" sz="1378" b="1" u="none" strike="noStrike" dirty="0" err="1">
                <a:solidFill>
                  <a:srgbClr val="1B2458"/>
                </a:solidFill>
                <a:latin typeface="+mj-lt"/>
                <a:ea typeface="Inter Bold"/>
                <a:cs typeface="Inter Bold"/>
                <a:sym typeface="Inter Bold"/>
              </a:rPr>
              <a:t>seguro</a:t>
            </a:r>
            <a:r>
              <a:rPr lang="en-US" sz="1378" b="1" u="none" strike="noStrike" dirty="0">
                <a:solidFill>
                  <a:srgbClr val="1B2458"/>
                </a:solidFill>
                <a:latin typeface="+mj-lt"/>
                <a:ea typeface="Inter Bold"/>
                <a:cs typeface="Inter Bold"/>
                <a:sym typeface="Inter Bold"/>
              </a:rPr>
              <a:t>, </a:t>
            </a:r>
            <a:r>
              <a:rPr lang="en-US" sz="1378" b="1" u="none" strike="noStrike" dirty="0" err="1">
                <a:solidFill>
                  <a:srgbClr val="1B2458"/>
                </a:solidFill>
                <a:latin typeface="+mj-lt"/>
                <a:ea typeface="Inter Bold"/>
                <a:cs typeface="Inter Bold"/>
                <a:sym typeface="Inter Bold"/>
              </a:rPr>
              <a:t>confiable</a:t>
            </a:r>
            <a:r>
              <a:rPr lang="en-US" sz="1378" b="1" u="none" strike="noStrike" dirty="0">
                <a:solidFill>
                  <a:srgbClr val="1B2458"/>
                </a:solidFill>
                <a:latin typeface="+mj-lt"/>
                <a:ea typeface="Inter Bold"/>
                <a:cs typeface="Inter Bold"/>
                <a:sym typeface="Inter Bold"/>
              </a:rPr>
              <a:t> y </a:t>
            </a:r>
            <a:r>
              <a:rPr lang="en-US" sz="1378" b="1" u="none" strike="noStrike" dirty="0" err="1">
                <a:solidFill>
                  <a:srgbClr val="1B2458"/>
                </a:solidFill>
                <a:latin typeface="+mj-lt"/>
                <a:ea typeface="Inter Bold"/>
                <a:cs typeface="Inter Bold"/>
                <a:sym typeface="Inter Bold"/>
              </a:rPr>
              <a:t>escalable</a:t>
            </a:r>
            <a:endParaRPr lang="en-US" sz="1378" b="1" u="none" strike="noStrike" dirty="0">
              <a:solidFill>
                <a:srgbClr val="1B2458"/>
              </a:solidFill>
              <a:latin typeface="+mj-lt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804173" y="420183"/>
            <a:ext cx="9160073" cy="9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8"/>
              </a:lnSpc>
            </a:pPr>
            <a:r>
              <a:rPr lang="en-US" sz="5748" spc="91" dirty="0" err="1">
                <a:solidFill>
                  <a:srgbClr val="D9DFE4"/>
                </a:solidFill>
                <a:latin typeface="+mj-lt"/>
                <a:ea typeface="Arial MT Pro"/>
                <a:cs typeface="Arial MT Pro"/>
                <a:sym typeface="Arial MT Pro"/>
              </a:rPr>
              <a:t>Metodología</a:t>
            </a:r>
            <a:r>
              <a:rPr lang="en-US" sz="5748" spc="91" dirty="0">
                <a:solidFill>
                  <a:srgbClr val="D9DFE4"/>
                </a:solidFill>
                <a:latin typeface="+mj-lt"/>
                <a:ea typeface="Arial MT Pro"/>
                <a:cs typeface="Arial MT Pro"/>
                <a:sym typeface="Arial MT Pro"/>
              </a:rPr>
              <a:t> y </a:t>
            </a:r>
            <a:r>
              <a:rPr lang="en-US" sz="5748" spc="91" dirty="0" err="1">
                <a:solidFill>
                  <a:srgbClr val="D9DFE4"/>
                </a:solidFill>
                <a:latin typeface="+mj-lt"/>
                <a:ea typeface="Arial MT Pro"/>
                <a:cs typeface="Arial MT Pro"/>
                <a:sym typeface="Arial MT Pro"/>
              </a:rPr>
              <a:t>Planificación</a:t>
            </a:r>
            <a:endParaRPr lang="en-US" sz="5748" spc="91" dirty="0">
              <a:solidFill>
                <a:srgbClr val="D9DFE4"/>
              </a:solidFill>
              <a:latin typeface="+mj-lt"/>
              <a:ea typeface="Arial MT Pro"/>
              <a:cs typeface="Arial MT Pro"/>
              <a:sym typeface="Arial MT Pr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60502" y="1937421"/>
            <a:ext cx="4912638" cy="65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1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8984652" y="1975696"/>
            <a:ext cx="4705350" cy="588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089" spc="71" dirty="0" err="1">
                <a:solidFill>
                  <a:srgbClr val="D7DDE3"/>
                </a:solidFill>
                <a:latin typeface="Arial MT Pro"/>
                <a:ea typeface="Arial MT Pro"/>
                <a:cs typeface="Arial MT Pro"/>
                <a:sym typeface="Arial MT Pro"/>
              </a:rPr>
              <a:t>Planificación</a:t>
            </a:r>
            <a:r>
              <a:rPr lang="en-US" sz="3089" spc="71" dirty="0">
                <a:solidFill>
                  <a:srgbClr val="D7DDE3"/>
                </a:solidFill>
                <a:latin typeface="Arial MT Pro"/>
                <a:ea typeface="Arial MT Pro"/>
                <a:cs typeface="Arial MT Pro"/>
                <a:sym typeface="Arial MT Pro"/>
              </a:rPr>
              <a:t> del </a:t>
            </a:r>
            <a:r>
              <a:rPr lang="en-US" sz="3089" spc="71" dirty="0" err="1">
                <a:solidFill>
                  <a:srgbClr val="D7DDE3"/>
                </a:solidFill>
                <a:latin typeface="Arial MT Pro"/>
                <a:ea typeface="Arial MT Pro"/>
                <a:cs typeface="Arial MT Pro"/>
                <a:sym typeface="Arial MT Pro"/>
              </a:rPr>
              <a:t>proyecto</a:t>
            </a:r>
            <a:endParaRPr lang="en-US" sz="3089" spc="71" dirty="0">
              <a:solidFill>
                <a:srgbClr val="D7DDE3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68933" y="3080075"/>
            <a:ext cx="3762375" cy="512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7"/>
              </a:lnSpc>
            </a:pPr>
            <a:r>
              <a:rPr lang="en-US" sz="2684" spc="8">
                <a:solidFill>
                  <a:srgbClr val="AEE5F1"/>
                </a:solidFill>
                <a:latin typeface="Arial MT Pro"/>
                <a:ea typeface="Arial MT Pro"/>
                <a:cs typeface="Arial MT Pro"/>
                <a:sym typeface="Arial MT Pro"/>
              </a:rPr>
              <a:t>Metodología incremental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7470" y="5288168"/>
            <a:ext cx="4305300" cy="298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9"/>
              </a:lnSpc>
            </a:pP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Divide el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proyecto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en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 partes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manejables</a:t>
            </a:r>
            <a:endParaRPr lang="en-US" dirty="0">
              <a:solidFill>
                <a:srgbClr val="D7DDE3"/>
              </a:solidFill>
              <a:latin typeface="Lato"/>
              <a:ea typeface="Lato"/>
              <a:cs typeface="Lato"/>
              <a:sym typeface="Robo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68524" y="5907821"/>
            <a:ext cx="4400550" cy="280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4"/>
              </a:lnSpc>
            </a:pP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Permite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detectar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errores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tempranamente</a:t>
            </a:r>
            <a:endParaRPr lang="en-US" dirty="0">
              <a:solidFill>
                <a:srgbClr val="D7DDE3"/>
              </a:solidFill>
              <a:latin typeface="Lato"/>
              <a:ea typeface="Lato"/>
              <a:cs typeface="Lato"/>
              <a:sym typeface="Robo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44822" y="3908872"/>
            <a:ext cx="5847954" cy="94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800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QuickHelp se </a:t>
            </a:r>
            <a:r>
              <a:rPr lang="en-US" sz="1800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desarrollará</a:t>
            </a:r>
            <a:r>
              <a:rPr lang="en-US" sz="1800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utilizando</a:t>
            </a:r>
            <a:r>
              <a:rPr lang="en-US" sz="1800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800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metodología</a:t>
            </a:r>
            <a:endParaRPr lang="en-US" sz="1800" dirty="0">
              <a:solidFill>
                <a:srgbClr val="D7DDE3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478"/>
              </a:lnSpc>
            </a:pPr>
            <a:r>
              <a:rPr lang="en-US" sz="1800" spc="102" dirty="0">
                <a:solidFill>
                  <a:srgbClr val="D7DDE3"/>
                </a:solidFill>
                <a:latin typeface="Roboto"/>
                <a:ea typeface="Roboto"/>
                <a:cs typeface="Roboto"/>
                <a:sym typeface="Roboto"/>
              </a:rPr>
              <a:t>incremental, </a:t>
            </a:r>
            <a:r>
              <a:rPr lang="en-US" sz="1800" spc="102" dirty="0" err="1">
                <a:solidFill>
                  <a:srgbClr val="D7DDE3"/>
                </a:solidFill>
                <a:latin typeface="Roboto"/>
                <a:ea typeface="Roboto"/>
                <a:cs typeface="Roboto"/>
                <a:sym typeface="Roboto"/>
              </a:rPr>
              <a:t>construyendo</a:t>
            </a:r>
            <a:r>
              <a:rPr lang="en-US" sz="1800" spc="102" dirty="0">
                <a:solidFill>
                  <a:srgbClr val="D7DDE3"/>
                </a:solidFill>
                <a:latin typeface="Roboto"/>
                <a:ea typeface="Roboto"/>
                <a:cs typeface="Roboto"/>
                <a:sym typeface="Roboto"/>
              </a:rPr>
              <a:t> el </a:t>
            </a:r>
            <a:r>
              <a:rPr lang="en-US" sz="1800" spc="102" dirty="0" err="1">
                <a:solidFill>
                  <a:srgbClr val="D7DDE3"/>
                </a:solidFill>
                <a:latin typeface="Roboto"/>
                <a:ea typeface="Roboto"/>
                <a:cs typeface="Roboto"/>
                <a:sym typeface="Roboto"/>
              </a:rPr>
              <a:t>sistema</a:t>
            </a:r>
            <a:r>
              <a:rPr lang="en-US" sz="1800" spc="102" dirty="0">
                <a:solidFill>
                  <a:srgbClr val="D7DDE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spc="102" dirty="0" err="1">
                <a:solidFill>
                  <a:srgbClr val="D7DDE3"/>
                </a:solidFill>
                <a:latin typeface="Roboto"/>
                <a:ea typeface="Roboto"/>
                <a:cs typeface="Roboto"/>
                <a:sym typeface="Roboto"/>
              </a:rPr>
              <a:t>por</a:t>
            </a:r>
            <a:r>
              <a:rPr lang="en-US" sz="1800" spc="102" dirty="0">
                <a:solidFill>
                  <a:srgbClr val="D7DDE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spc="102" dirty="0" err="1">
                <a:solidFill>
                  <a:srgbClr val="D7DDE3"/>
                </a:solidFill>
                <a:latin typeface="Roboto"/>
                <a:ea typeface="Roboto"/>
                <a:cs typeface="Roboto"/>
                <a:sym typeface="Roboto"/>
              </a:rPr>
              <a:t>etapas</a:t>
            </a:r>
            <a:r>
              <a:rPr lang="en-US" sz="1800" spc="102" dirty="0">
                <a:solidFill>
                  <a:srgbClr val="D7DDE3"/>
                </a:solidFill>
                <a:latin typeface="Roboto"/>
                <a:ea typeface="Roboto"/>
                <a:cs typeface="Roboto"/>
                <a:sym typeface="Roboto"/>
              </a:rPr>
              <a:t> y</a:t>
            </a:r>
          </a:p>
          <a:p>
            <a:pPr algn="l">
              <a:lnSpc>
                <a:spcPts val="2478"/>
              </a:lnSpc>
            </a:pPr>
            <a:r>
              <a:rPr lang="en-US" sz="1800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validando</a:t>
            </a:r>
            <a:r>
              <a:rPr lang="en-US" sz="1800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sz="1800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avance</a:t>
            </a:r>
            <a:r>
              <a:rPr lang="en-US" sz="1800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 antes de </a:t>
            </a:r>
            <a:r>
              <a:rPr lang="en-US" sz="1800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continuar</a:t>
            </a:r>
            <a:r>
              <a:rPr lang="en-US" sz="1800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9501" y="6613545"/>
            <a:ext cx="3774709" cy="280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4"/>
              </a:lnSpc>
            </a:pP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Facilita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probar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funcionalidad</a:t>
            </a:r>
            <a:endParaRPr lang="en-US" dirty="0">
              <a:solidFill>
                <a:srgbClr val="D7DDE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37756" y="7392124"/>
            <a:ext cx="3448050" cy="29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Se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adapta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 a un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equipo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pequeño</a:t>
            </a:r>
            <a:endParaRPr lang="en-US" dirty="0">
              <a:solidFill>
                <a:srgbClr val="D7DDE3"/>
              </a:solidFill>
              <a:latin typeface="Lato"/>
              <a:ea typeface="Lato"/>
              <a:cs typeface="Lato"/>
              <a:sym typeface="Robo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35240" y="7987481"/>
            <a:ext cx="4829175" cy="304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ABeeZee"/>
              </a:rPr>
              <a:t>Permite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ABeeZee"/>
              </a:rPr>
              <a:t>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ABeeZee"/>
              </a:rPr>
              <a:t>realizar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ABeeZee"/>
              </a:rPr>
              <a:t>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ABeeZee"/>
              </a:rPr>
              <a:t>ajustes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ABeeZee"/>
              </a:rPr>
              <a:t>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ABeeZee"/>
              </a:rPr>
              <a:t>durante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ABeeZee"/>
              </a:rPr>
              <a:t> el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ABeeZee"/>
              </a:rPr>
              <a:t>desarrollo</a:t>
            </a:r>
            <a:endParaRPr lang="en-US" dirty="0">
              <a:solidFill>
                <a:srgbClr val="D7DDE3"/>
              </a:solidFill>
              <a:latin typeface="Lato"/>
              <a:ea typeface="Lato"/>
              <a:cs typeface="Lato"/>
              <a:sym typeface="ABeeZe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975389" y="8888998"/>
            <a:ext cx="14468475" cy="39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072" spc="31">
                <a:solidFill>
                  <a:srgbClr val="A4CEDE"/>
                </a:solidFill>
                <a:latin typeface="Arial MT Pro"/>
                <a:ea typeface="Arial MT Pro"/>
                <a:cs typeface="Arial MT Pro"/>
                <a:sym typeface="Arial MT Pro"/>
              </a:rPr>
              <a:t>El desarrollo incremental permite avanzar de forma controlada, validar cada etapa y reducir riesgos durante el proyecto.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49536" y="6394394"/>
            <a:ext cx="2571750" cy="86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3"/>
              </a:lnSpc>
            </a:pP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Requerimientos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,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casos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 de</a:t>
            </a:r>
          </a:p>
          <a:p>
            <a:pPr algn="l">
              <a:lnSpc>
                <a:spcPts val="2326"/>
              </a:lnSpc>
            </a:pP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uso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,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arquitectura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,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modelo</a:t>
            </a:r>
            <a:endParaRPr lang="en-US" dirty="0">
              <a:solidFill>
                <a:srgbClr val="D7DDE3"/>
              </a:solidFill>
              <a:latin typeface="Lato"/>
              <a:ea typeface="Lato"/>
              <a:cs typeface="Lato"/>
              <a:sym typeface="Roboto"/>
            </a:endParaRPr>
          </a:p>
          <a:p>
            <a:pPr algn="l">
              <a:lnSpc>
                <a:spcPts val="2266"/>
              </a:lnSpc>
            </a:pP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de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 y mockups.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35311" y="5488582"/>
            <a:ext cx="1600200" cy="30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7" spc="123">
                <a:solidFill>
                  <a:srgbClr val="D7DDE3"/>
                </a:solidFill>
                <a:latin typeface="Arial MT Pro"/>
                <a:ea typeface="Arial MT Pro"/>
                <a:cs typeface="Arial MT Pro"/>
                <a:sym typeface="Arial MT Pro"/>
              </a:rPr>
              <a:t>Semanas 1 a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74631" y="4574476"/>
            <a:ext cx="1943100" cy="61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</a:pPr>
            <a:r>
              <a:rPr lang="en-US" sz="2013" spc="-8">
                <a:solidFill>
                  <a:srgbClr val="D7DDE3"/>
                </a:solidFill>
                <a:latin typeface="Arial MT Pro"/>
                <a:ea typeface="Arial MT Pro"/>
                <a:cs typeface="Arial MT Pro"/>
                <a:sym typeface="Arial MT Pro"/>
              </a:rPr>
              <a:t>Fase 1</a:t>
            </a:r>
          </a:p>
          <a:p>
            <a:pPr algn="ctr">
              <a:lnSpc>
                <a:spcPts val="2162"/>
              </a:lnSpc>
            </a:pPr>
            <a:r>
              <a:rPr lang="en-US" sz="1805" spc="81">
                <a:solidFill>
                  <a:srgbClr val="A4E3EA"/>
                </a:solidFill>
                <a:latin typeface="Arial MT Pro"/>
                <a:ea typeface="Arial MT Pro"/>
                <a:cs typeface="Arial MT Pro"/>
                <a:sym typeface="Arial MT Pro"/>
              </a:rPr>
              <a:t>Análisis y Diseño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41636" y="4610613"/>
            <a:ext cx="2733675" cy="623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7"/>
              </a:lnSpc>
            </a:pPr>
            <a:r>
              <a:rPr lang="en-US" sz="1937" spc="32">
                <a:solidFill>
                  <a:srgbClr val="D7DDE3"/>
                </a:solidFill>
                <a:latin typeface="Arial MT Pro"/>
                <a:ea typeface="Arial MT Pro"/>
                <a:cs typeface="Arial MT Pro"/>
                <a:sym typeface="Arial MT Pro"/>
              </a:rPr>
              <a:t>Fase 2</a:t>
            </a:r>
          </a:p>
          <a:p>
            <a:pPr algn="ctr">
              <a:lnSpc>
                <a:spcPts val="2367"/>
              </a:lnSpc>
            </a:pPr>
            <a:r>
              <a:rPr lang="en-US" sz="1937" spc="32">
                <a:solidFill>
                  <a:srgbClr val="D7DDE3"/>
                </a:solidFill>
                <a:latin typeface="Arial MT Pro"/>
                <a:ea typeface="Arial MT Pro"/>
                <a:cs typeface="Arial MT Pro"/>
                <a:sym typeface="Arial MT Pro"/>
              </a:rPr>
              <a:t>Desarrollo e Integración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70736" y="5485134"/>
            <a:ext cx="1675090" cy="30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1575" spc="122">
                <a:solidFill>
                  <a:srgbClr val="041E23"/>
                </a:solidFill>
                <a:latin typeface="Arial MT Pro"/>
                <a:ea typeface="Arial MT Pro"/>
                <a:cs typeface="Arial MT Pro"/>
                <a:sym typeface="Arial MT Pro"/>
              </a:rPr>
              <a:t>Semanas 5 a 14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76044" y="6394394"/>
            <a:ext cx="3064473" cy="1147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81"/>
              </a:lnSpc>
            </a:pP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Base de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, backend,</a:t>
            </a:r>
          </a:p>
          <a:p>
            <a:pPr>
              <a:lnSpc>
                <a:spcPts val="2408"/>
              </a:lnSpc>
            </a:pP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aplicación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móvil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, panel web,</a:t>
            </a:r>
          </a:p>
          <a:p>
            <a:pPr>
              <a:lnSpc>
                <a:spcPts val="2188"/>
              </a:lnSpc>
            </a:pP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integración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,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alertas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,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reintentos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 y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escalamiento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44383" y="6402705"/>
            <a:ext cx="2905125" cy="863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47"/>
              </a:lnSpc>
            </a:pP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Pruebas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correcciones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,</a:t>
            </a:r>
          </a:p>
          <a:p>
            <a:pPr>
              <a:lnSpc>
                <a:spcPts val="2247"/>
              </a:lnSpc>
            </a:pP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validación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Lato"/>
              </a:rPr>
              <a:t>documentación</a:t>
            </a:r>
            <a:endParaRPr lang="en-US" dirty="0">
              <a:solidFill>
                <a:srgbClr val="D7DDE3"/>
              </a:solidFill>
              <a:latin typeface="Lato"/>
              <a:ea typeface="Lato"/>
              <a:cs typeface="Lato"/>
              <a:sym typeface="Lato"/>
            </a:endParaRPr>
          </a:p>
          <a:p>
            <a:pPr>
              <a:lnSpc>
                <a:spcPts val="2624"/>
              </a:lnSpc>
            </a:pP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final y </a:t>
            </a:r>
            <a:r>
              <a:rPr lang="en-US" dirty="0" err="1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entrega</a:t>
            </a:r>
            <a:r>
              <a:rPr lang="en-US" dirty="0">
                <a:solidFill>
                  <a:srgbClr val="D7DDE3"/>
                </a:solidFill>
                <a:latin typeface="Lato"/>
                <a:ea typeface="Lato"/>
                <a:cs typeface="Lato"/>
                <a:sym typeface="Roboto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63311" y="5490739"/>
            <a:ext cx="1838325" cy="310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2"/>
              </a:lnSpc>
            </a:pPr>
            <a:r>
              <a:rPr lang="en-US" sz="1659" spc="84">
                <a:solidFill>
                  <a:srgbClr val="F6E2E4"/>
                </a:solidFill>
                <a:latin typeface="Arial MT Pro"/>
                <a:ea typeface="Arial MT Pro"/>
                <a:cs typeface="Arial MT Pro"/>
                <a:sym typeface="Arial MT Pro"/>
              </a:rPr>
              <a:t>Semanas 14 a 18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57318" y="4615526"/>
            <a:ext cx="1905000" cy="621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</a:pPr>
            <a:r>
              <a:rPr lang="en-US" sz="1947" spc="11">
                <a:solidFill>
                  <a:srgbClr val="D7DDE3"/>
                </a:solidFill>
                <a:latin typeface="Arial MT Pro"/>
                <a:ea typeface="Arial MT Pro"/>
                <a:cs typeface="Arial MT Pro"/>
                <a:sym typeface="Arial MT Pro"/>
              </a:rPr>
              <a:t>Fase 3</a:t>
            </a:r>
          </a:p>
          <a:p>
            <a:pPr algn="ctr">
              <a:lnSpc>
                <a:spcPts val="2393"/>
              </a:lnSpc>
            </a:pPr>
            <a:r>
              <a:rPr lang="en-US" sz="1947" spc="11">
                <a:solidFill>
                  <a:srgbClr val="D7DDE3"/>
                </a:solidFill>
                <a:latin typeface="Arial MT Pro"/>
                <a:ea typeface="Arial MT Pro"/>
                <a:cs typeface="Arial MT Pro"/>
                <a:sym typeface="Arial MT Pro"/>
              </a:rPr>
              <a:t>Pruebas y Cierre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90903" y="2906521"/>
            <a:ext cx="219075" cy="482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59">
                <a:solidFill>
                  <a:srgbClr val="F6B6CA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10976" y="2827969"/>
            <a:ext cx="238125" cy="58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4"/>
              </a:lnSpc>
            </a:pPr>
            <a:r>
              <a:rPr lang="en-US" sz="3096">
                <a:solidFill>
                  <a:srgbClr val="97F2F0"/>
                </a:solidFill>
                <a:latin typeface="Arial MT Pro"/>
                <a:ea typeface="Arial MT Pro"/>
                <a:cs typeface="Arial MT Pro"/>
                <a:sym typeface="Arial MT Pro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40927" y="2904169"/>
            <a:ext cx="102870" cy="431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2"/>
              </a:lnSpc>
            </a:pPr>
            <a:r>
              <a:rPr lang="en-US" sz="2523">
                <a:solidFill>
                  <a:srgbClr val="68E0F7"/>
                </a:solidFill>
                <a:latin typeface="Angelina"/>
                <a:ea typeface="Angelina"/>
                <a:cs typeface="Angelina"/>
                <a:sym typeface="Angelina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5393304" y="229178"/>
            <a:ext cx="6886575" cy="1387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8161" spc="350" dirty="0">
                <a:solidFill>
                  <a:srgbClr val="F5F6F8"/>
                </a:solidFill>
                <a:latin typeface="Eras Demi ITC" panose="020B0805030504020804" pitchFamily="34" charset="0"/>
                <a:ea typeface="Futura"/>
                <a:cs typeface="Futura"/>
                <a:sym typeface="Futura"/>
              </a:rPr>
              <a:t>Mockups</a:t>
            </a:r>
          </a:p>
          <a:p>
            <a:pPr algn="ctr">
              <a:lnSpc>
                <a:spcPts val="2464"/>
              </a:lnSpc>
            </a:pPr>
            <a:r>
              <a:rPr lang="en-US" sz="2435" spc="109" dirty="0" err="1">
                <a:solidFill>
                  <a:srgbClr val="58B2E7"/>
                </a:solidFill>
                <a:latin typeface="+mj-lt"/>
                <a:ea typeface="Futura"/>
                <a:cs typeface="Futura"/>
                <a:sym typeface="Futura"/>
              </a:rPr>
              <a:t>Diseño</a:t>
            </a:r>
            <a:r>
              <a:rPr lang="en-US" sz="2435" spc="109" dirty="0">
                <a:solidFill>
                  <a:srgbClr val="58B2E7"/>
                </a:solidFill>
                <a:latin typeface="+mj-lt"/>
                <a:ea typeface="Futura"/>
                <a:cs typeface="Futura"/>
                <a:sym typeface="Futura"/>
              </a:rPr>
              <a:t> de interfaces </a:t>
            </a:r>
            <a:r>
              <a:rPr lang="en-US" sz="2435" spc="109" dirty="0" err="1">
                <a:solidFill>
                  <a:srgbClr val="58B2E7"/>
                </a:solidFill>
                <a:latin typeface="+mj-lt"/>
                <a:ea typeface="Futura"/>
                <a:cs typeface="Futura"/>
                <a:sym typeface="Futura"/>
              </a:rPr>
              <a:t>principales</a:t>
            </a:r>
            <a:r>
              <a:rPr lang="en-US" sz="2435" spc="109" dirty="0">
                <a:solidFill>
                  <a:srgbClr val="58B2E7"/>
                </a:solidFill>
                <a:latin typeface="+mj-lt"/>
                <a:ea typeface="Futura"/>
                <a:cs typeface="Futura"/>
                <a:sym typeface="Futura"/>
              </a:rPr>
              <a:t> de QuickHelp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17108" y="2263087"/>
            <a:ext cx="4943475" cy="25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534" spc="69" dirty="0" err="1">
                <a:solidFill>
                  <a:srgbClr val="98CAE1"/>
                </a:solidFill>
                <a:latin typeface="+mj-lt"/>
                <a:ea typeface="Futura"/>
                <a:cs typeface="Futura"/>
                <a:sym typeface="Futura"/>
              </a:rPr>
              <a:t>Gestión</a:t>
            </a:r>
            <a:r>
              <a:rPr lang="en-US" sz="1534" spc="69" dirty="0">
                <a:solidFill>
                  <a:srgbClr val="98CAE1"/>
                </a:solidFill>
                <a:latin typeface="+mj-lt"/>
                <a:ea typeface="Futura"/>
                <a:cs typeface="Futura"/>
                <a:sym typeface="Futura"/>
              </a:rPr>
              <a:t> </a:t>
            </a:r>
            <a:r>
              <a:rPr lang="en-US" sz="1534" spc="69" dirty="0" err="1">
                <a:solidFill>
                  <a:srgbClr val="98CAE1"/>
                </a:solidFill>
                <a:latin typeface="+mj-lt"/>
                <a:ea typeface="Futura"/>
                <a:cs typeface="Futura"/>
                <a:sym typeface="Futura"/>
              </a:rPr>
              <a:t>centralizada</a:t>
            </a:r>
            <a:r>
              <a:rPr lang="en-US" sz="1534" spc="69" dirty="0">
                <a:solidFill>
                  <a:srgbClr val="98CAE1"/>
                </a:solidFill>
                <a:latin typeface="+mj-lt"/>
                <a:ea typeface="Futura"/>
                <a:cs typeface="Futura"/>
                <a:sym typeface="Futura"/>
              </a:rPr>
              <a:t> para </a:t>
            </a:r>
            <a:r>
              <a:rPr lang="en-US" sz="1534" spc="69" dirty="0" err="1">
                <a:solidFill>
                  <a:srgbClr val="98CAE1"/>
                </a:solidFill>
                <a:latin typeface="+mj-lt"/>
                <a:ea typeface="Futura"/>
                <a:cs typeface="Futura"/>
                <a:sym typeface="Futura"/>
              </a:rPr>
              <a:t>una</a:t>
            </a:r>
            <a:r>
              <a:rPr lang="en-US" sz="1534" spc="69" dirty="0">
                <a:solidFill>
                  <a:srgbClr val="98CAE1"/>
                </a:solidFill>
                <a:latin typeface="+mj-lt"/>
                <a:ea typeface="Futura"/>
                <a:cs typeface="Futura"/>
                <a:sym typeface="Futura"/>
              </a:rPr>
              <a:t> </a:t>
            </a:r>
            <a:r>
              <a:rPr lang="en-US" sz="1534" spc="69" dirty="0" err="1">
                <a:solidFill>
                  <a:srgbClr val="98CAE1"/>
                </a:solidFill>
                <a:latin typeface="+mj-lt"/>
                <a:ea typeface="Futura"/>
                <a:cs typeface="Futura"/>
                <a:sym typeface="Futura"/>
              </a:rPr>
              <a:t>respuesta</a:t>
            </a:r>
            <a:r>
              <a:rPr lang="en-US" sz="1534" spc="69" dirty="0">
                <a:solidFill>
                  <a:srgbClr val="98CAE1"/>
                </a:solidFill>
                <a:latin typeface="+mj-lt"/>
                <a:ea typeface="Futura"/>
                <a:cs typeface="Futura"/>
                <a:sym typeface="Futura"/>
              </a:rPr>
              <a:t> </a:t>
            </a:r>
            <a:r>
              <a:rPr lang="en-US" sz="1534" spc="69" dirty="0" err="1">
                <a:solidFill>
                  <a:srgbClr val="98CAE1"/>
                </a:solidFill>
                <a:latin typeface="+mj-lt"/>
                <a:ea typeface="Futura"/>
                <a:cs typeface="Futura"/>
                <a:sym typeface="Futura"/>
              </a:rPr>
              <a:t>más</a:t>
            </a:r>
            <a:r>
              <a:rPr lang="en-US" sz="1534" spc="69" dirty="0">
                <a:solidFill>
                  <a:srgbClr val="98CAE1"/>
                </a:solidFill>
                <a:latin typeface="+mj-lt"/>
                <a:ea typeface="Futura"/>
                <a:cs typeface="Futura"/>
                <a:sym typeface="Futura"/>
              </a:rPr>
              <a:t> </a:t>
            </a:r>
            <a:r>
              <a:rPr lang="en-US" sz="1534" spc="69" dirty="0" err="1">
                <a:solidFill>
                  <a:srgbClr val="98CAE1"/>
                </a:solidFill>
                <a:latin typeface="+mj-lt"/>
                <a:ea typeface="Futura"/>
                <a:cs typeface="Futura"/>
                <a:sym typeface="Futura"/>
              </a:rPr>
              <a:t>rápida</a:t>
            </a:r>
            <a:endParaRPr lang="en-US" sz="1534" spc="69" dirty="0">
              <a:solidFill>
                <a:srgbClr val="98CAE1"/>
              </a:solidFill>
              <a:latin typeface="+mj-lt"/>
              <a:ea typeface="Futura"/>
              <a:cs typeface="Futura"/>
              <a:sym typeface="Futur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585748" y="1854496"/>
            <a:ext cx="2003098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03"/>
              </a:lnSpc>
            </a:pPr>
            <a:r>
              <a:rPr lang="en-US" sz="3093" spc="95" dirty="0">
                <a:solidFill>
                  <a:srgbClr val="EBEEF2"/>
                </a:solidFill>
                <a:latin typeface="+mj-lt"/>
                <a:sym typeface="Futura"/>
              </a:rPr>
              <a:t>Panel web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0341" y="1893241"/>
            <a:ext cx="5800725" cy="882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3"/>
              </a:lnSpc>
            </a:pPr>
            <a:r>
              <a:rPr lang="en-US" sz="3093" spc="95" dirty="0">
                <a:solidFill>
                  <a:srgbClr val="EBEEF2"/>
                </a:solidFill>
                <a:latin typeface="+mj-lt"/>
                <a:ea typeface="Futura"/>
                <a:cs typeface="Futura"/>
                <a:sym typeface="Futura"/>
              </a:rPr>
              <a:t>   </a:t>
            </a:r>
            <a:r>
              <a:rPr lang="en-US" sz="3093" spc="95" dirty="0" err="1">
                <a:solidFill>
                  <a:srgbClr val="EBEEF2"/>
                </a:solidFill>
                <a:latin typeface="+mj-lt"/>
                <a:ea typeface="Futura"/>
                <a:cs typeface="Futura"/>
                <a:sym typeface="Futura"/>
              </a:rPr>
              <a:t>Aplicación</a:t>
            </a:r>
            <a:r>
              <a:rPr lang="en-US" sz="3093" spc="95" dirty="0">
                <a:solidFill>
                  <a:srgbClr val="EBEEF2"/>
                </a:solidFill>
                <a:latin typeface="+mj-lt"/>
                <a:ea typeface="Futura"/>
                <a:cs typeface="Futura"/>
                <a:sym typeface="Futura"/>
              </a:rPr>
              <a:t> </a:t>
            </a:r>
            <a:r>
              <a:rPr lang="en-US" sz="3093" spc="95" dirty="0" err="1">
                <a:solidFill>
                  <a:srgbClr val="EBEEF2"/>
                </a:solidFill>
                <a:latin typeface="+mj-lt"/>
                <a:ea typeface="Futura"/>
                <a:cs typeface="Futura"/>
                <a:sym typeface="Futura"/>
              </a:rPr>
              <a:t>móvil</a:t>
            </a:r>
            <a:r>
              <a:rPr lang="en-US" sz="3093" spc="95" dirty="0">
                <a:solidFill>
                  <a:srgbClr val="EBEEF2"/>
                </a:solidFill>
                <a:latin typeface="+mj-lt"/>
                <a:ea typeface="Futura"/>
                <a:cs typeface="Futura"/>
                <a:sym typeface="Futura"/>
              </a:rPr>
              <a:t>                               </a:t>
            </a:r>
            <a:r>
              <a:rPr lang="en-US" sz="1534" spc="69" dirty="0" err="1">
                <a:solidFill>
                  <a:srgbClr val="98CAE1"/>
                </a:solidFill>
                <a:latin typeface="+mj-lt"/>
                <a:sym typeface="Futura"/>
              </a:rPr>
              <a:t>Interfaz</a:t>
            </a:r>
            <a:r>
              <a:rPr lang="en-US" sz="1534" spc="69" dirty="0">
                <a:solidFill>
                  <a:srgbClr val="98CAE1"/>
                </a:solidFill>
                <a:latin typeface="+mj-lt"/>
                <a:sym typeface="Futura"/>
              </a:rPr>
              <a:t> simple, </a:t>
            </a:r>
            <a:r>
              <a:rPr lang="en-US" sz="1534" spc="69" dirty="0" err="1">
                <a:solidFill>
                  <a:srgbClr val="98CAE1"/>
                </a:solidFill>
                <a:latin typeface="+mj-lt"/>
                <a:sym typeface="Futura"/>
              </a:rPr>
              <a:t>segura</a:t>
            </a:r>
            <a:r>
              <a:rPr lang="en-US" sz="1534" spc="69" dirty="0">
                <a:solidFill>
                  <a:srgbClr val="98CAE1"/>
                </a:solidFill>
                <a:latin typeface="+mj-lt"/>
                <a:sym typeface="Futura"/>
              </a:rPr>
              <a:t> y </a:t>
            </a:r>
            <a:r>
              <a:rPr lang="en-US" sz="1534" spc="69" dirty="0" err="1">
                <a:solidFill>
                  <a:srgbClr val="98CAE1"/>
                </a:solidFill>
                <a:latin typeface="+mj-lt"/>
                <a:sym typeface="Futura"/>
              </a:rPr>
              <a:t>pensada</a:t>
            </a:r>
            <a:r>
              <a:rPr lang="en-US" sz="1534" spc="69" dirty="0">
                <a:solidFill>
                  <a:srgbClr val="98CAE1"/>
                </a:solidFill>
                <a:latin typeface="+mj-lt"/>
                <a:sym typeface="Futura"/>
              </a:rPr>
              <a:t> para el </a:t>
            </a:r>
            <a:r>
              <a:rPr lang="en-US" sz="1534" spc="69" dirty="0" err="1">
                <a:solidFill>
                  <a:srgbClr val="98CAE1"/>
                </a:solidFill>
                <a:latin typeface="+mj-lt"/>
                <a:sym typeface="Futura"/>
              </a:rPr>
              <a:t>adulto</a:t>
            </a:r>
            <a:r>
              <a:rPr lang="en-US" sz="1534" spc="69" dirty="0">
                <a:solidFill>
                  <a:srgbClr val="98CAE1"/>
                </a:solidFill>
                <a:latin typeface="+mj-lt"/>
                <a:sym typeface="Futura"/>
              </a:rPr>
              <a:t> mayor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5940" y="8533080"/>
            <a:ext cx="1276350" cy="311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607" spc="72">
                <a:solidFill>
                  <a:srgbClr val="B1CBE1"/>
                </a:solidFill>
                <a:latin typeface="Futura"/>
                <a:ea typeface="Futura"/>
                <a:cs typeface="Futura"/>
                <a:sym typeface="Futura"/>
              </a:rPr>
              <a:t>• Botón SOS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60215" y="8531339"/>
            <a:ext cx="1943100" cy="31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657" spc="4">
                <a:solidFill>
                  <a:srgbClr val="B1CBE1"/>
                </a:solidFill>
                <a:latin typeface="Futura"/>
                <a:ea typeface="Futura"/>
                <a:cs typeface="Futura"/>
                <a:sym typeface="Futura"/>
              </a:rPr>
              <a:t>• Activación por voz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48969" y="8531908"/>
            <a:ext cx="2219325" cy="311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7"/>
              </a:lnSpc>
            </a:pPr>
            <a:r>
              <a:rPr lang="en-US" sz="1626" spc="16">
                <a:solidFill>
                  <a:srgbClr val="B1CBE1"/>
                </a:solidFill>
                <a:latin typeface="Futura"/>
                <a:ea typeface="Futura"/>
                <a:cs typeface="Futura"/>
                <a:sym typeface="Futura"/>
              </a:rPr>
              <a:t>• Seguimiento de alerta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17802" y="8808678"/>
            <a:ext cx="1085850" cy="27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9"/>
              </a:lnSpc>
            </a:pPr>
            <a:r>
              <a:rPr lang="en-US" sz="1463" spc="48">
                <a:solidFill>
                  <a:srgbClr val="B1CBE1"/>
                </a:solidFill>
                <a:latin typeface="Futura"/>
                <a:ea typeface="Futura"/>
                <a:cs typeface="Futura"/>
                <a:sym typeface="Futura"/>
              </a:rPr>
              <a:t>• Monitoreo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9218" y="8812193"/>
            <a:ext cx="1771650" cy="276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sz="1494" spc="31">
                <a:solidFill>
                  <a:srgbClr val="B1CBE1"/>
                </a:solidFill>
                <a:latin typeface="Futura"/>
                <a:ea typeface="Futura"/>
                <a:cs typeface="Futura"/>
                <a:sym typeface="Futura"/>
              </a:rPr>
              <a:t>• Gestión de alertas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52307" y="8805021"/>
            <a:ext cx="1828800" cy="31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1"/>
              </a:lnSpc>
            </a:pPr>
            <a:r>
              <a:rPr lang="en-US" sz="1629" spc="6" dirty="0">
                <a:solidFill>
                  <a:srgbClr val="B1CBE1"/>
                </a:solidFill>
                <a:latin typeface="Futura"/>
                <a:ea typeface="Futura"/>
                <a:cs typeface="Futura"/>
                <a:sym typeface="Futura"/>
              </a:rPr>
              <a:t>• </a:t>
            </a:r>
            <a:r>
              <a:rPr lang="en-US" sz="1629" spc="6" dirty="0" err="1">
                <a:solidFill>
                  <a:srgbClr val="B1CBE1"/>
                </a:solidFill>
                <a:latin typeface="Futura"/>
                <a:ea typeface="Futura"/>
                <a:cs typeface="Futura"/>
                <a:sym typeface="Futura"/>
              </a:rPr>
              <a:t>Reportes</a:t>
            </a:r>
            <a:r>
              <a:rPr lang="en-US" sz="1629" spc="6" dirty="0">
                <a:solidFill>
                  <a:srgbClr val="B1CBE1"/>
                </a:solidFill>
                <a:latin typeface="Futura"/>
                <a:ea typeface="Futura"/>
                <a:cs typeface="Futura"/>
                <a:sym typeface="Futura"/>
              </a:rPr>
              <a:t> y control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22146" y="9548215"/>
            <a:ext cx="10315575" cy="325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1934" spc="-21" dirty="0">
                <a:solidFill>
                  <a:srgbClr val="80D0DD"/>
                </a:solidFill>
                <a:ea typeface="Futura"/>
                <a:cs typeface="Futura"/>
                <a:sym typeface="Futura"/>
              </a:rPr>
              <a:t>Los mockups </a:t>
            </a:r>
            <a:r>
              <a:rPr lang="en-US" sz="1934" spc="-21" dirty="0" err="1">
                <a:solidFill>
                  <a:srgbClr val="80D0DD"/>
                </a:solidFill>
                <a:ea typeface="Futura"/>
                <a:cs typeface="Futura"/>
                <a:sym typeface="Futura"/>
              </a:rPr>
              <a:t>permiten</a:t>
            </a:r>
            <a:r>
              <a:rPr lang="en-US" sz="1934" spc="-21" dirty="0">
                <a:solidFill>
                  <a:srgbClr val="80D0DD"/>
                </a:solidFill>
                <a:ea typeface="Futura"/>
                <a:cs typeface="Futura"/>
                <a:sym typeface="Futura"/>
              </a:rPr>
              <a:t> </a:t>
            </a:r>
            <a:r>
              <a:rPr lang="en-US" sz="1934" spc="-21" dirty="0" err="1">
                <a:solidFill>
                  <a:srgbClr val="80D0DD"/>
                </a:solidFill>
                <a:ea typeface="Futura"/>
                <a:cs typeface="Futura"/>
                <a:sym typeface="Futura"/>
              </a:rPr>
              <a:t>visualizar</a:t>
            </a:r>
            <a:r>
              <a:rPr lang="en-US" sz="1934" spc="-21" dirty="0">
                <a:solidFill>
                  <a:srgbClr val="80D0DD"/>
                </a:solidFill>
                <a:ea typeface="Futura"/>
                <a:cs typeface="Futura"/>
                <a:sym typeface="Futura"/>
              </a:rPr>
              <a:t> la </a:t>
            </a:r>
            <a:r>
              <a:rPr lang="en-US" sz="1934" spc="-21" dirty="0" err="1">
                <a:solidFill>
                  <a:srgbClr val="80D0DD"/>
                </a:solidFill>
                <a:ea typeface="Futura"/>
                <a:cs typeface="Futura"/>
                <a:sym typeface="Futura"/>
              </a:rPr>
              <a:t>experiencia</a:t>
            </a:r>
            <a:r>
              <a:rPr lang="en-US" sz="1934" spc="-21" dirty="0">
                <a:solidFill>
                  <a:srgbClr val="80D0DD"/>
                </a:solidFill>
                <a:ea typeface="Futura"/>
                <a:cs typeface="Futura"/>
                <a:sym typeface="Futura"/>
              </a:rPr>
              <a:t> del </a:t>
            </a:r>
            <a:r>
              <a:rPr lang="en-US" sz="1934" spc="-21" dirty="0" err="1">
                <a:solidFill>
                  <a:srgbClr val="80D0DD"/>
                </a:solidFill>
                <a:ea typeface="Futura"/>
                <a:cs typeface="Futura"/>
                <a:sym typeface="Futura"/>
              </a:rPr>
              <a:t>usuario</a:t>
            </a:r>
            <a:r>
              <a:rPr lang="en-US" sz="1934" spc="-21" dirty="0">
                <a:solidFill>
                  <a:srgbClr val="80D0DD"/>
                </a:solidFill>
                <a:ea typeface="Futura"/>
                <a:cs typeface="Futura"/>
                <a:sym typeface="Futura"/>
              </a:rPr>
              <a:t> y </a:t>
            </a:r>
            <a:r>
              <a:rPr lang="en-US" sz="1934" spc="-21" dirty="0" err="1">
                <a:solidFill>
                  <a:srgbClr val="80D0DD"/>
                </a:solidFill>
                <a:ea typeface="Futura"/>
                <a:cs typeface="Futura"/>
                <a:sym typeface="Futura"/>
              </a:rPr>
              <a:t>validar</a:t>
            </a:r>
            <a:r>
              <a:rPr lang="en-US" sz="1934" spc="-21" dirty="0">
                <a:solidFill>
                  <a:srgbClr val="80D0DD"/>
                </a:solidFill>
                <a:ea typeface="Futura"/>
                <a:cs typeface="Futura"/>
                <a:sym typeface="Futura"/>
              </a:rPr>
              <a:t> el </a:t>
            </a:r>
            <a:r>
              <a:rPr lang="en-US" sz="1934" spc="-21" dirty="0" err="1">
                <a:solidFill>
                  <a:srgbClr val="80D0DD"/>
                </a:solidFill>
                <a:ea typeface="Futura"/>
                <a:cs typeface="Futura"/>
                <a:sym typeface="Futura"/>
              </a:rPr>
              <a:t>diseño</a:t>
            </a:r>
            <a:r>
              <a:rPr lang="en-US" sz="1934" spc="-21" dirty="0">
                <a:solidFill>
                  <a:srgbClr val="80D0DD"/>
                </a:solidFill>
                <a:ea typeface="Futura"/>
                <a:cs typeface="Futura"/>
                <a:sym typeface="Futura"/>
              </a:rPr>
              <a:t> antes del </a:t>
            </a:r>
            <a:r>
              <a:rPr lang="en-US" sz="1934" spc="-21" dirty="0" err="1">
                <a:solidFill>
                  <a:srgbClr val="80D0DD"/>
                </a:solidFill>
                <a:ea typeface="Futura"/>
                <a:cs typeface="Futura"/>
                <a:sym typeface="Futura"/>
              </a:rPr>
              <a:t>desarrollo</a:t>
            </a:r>
            <a:r>
              <a:rPr lang="en-US" sz="1934" spc="-21" dirty="0">
                <a:solidFill>
                  <a:srgbClr val="80D0DD"/>
                </a:solidFill>
                <a:ea typeface="Futura"/>
                <a:cs typeface="Futura"/>
                <a:sym typeface="Futura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437568" y="2019456"/>
            <a:ext cx="3581400" cy="54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150" spc="179" dirty="0" err="1">
                <a:solidFill>
                  <a:srgbClr val="D9E1E8"/>
                </a:solidFill>
                <a:latin typeface="+mj-lt"/>
                <a:ea typeface="Bobby Jones Soft"/>
                <a:cs typeface="Bobby Jones Soft"/>
                <a:sym typeface="Bobby Jones Soft"/>
              </a:rPr>
              <a:t>Desafíos</a:t>
            </a:r>
            <a:r>
              <a:rPr lang="en-US" sz="3150" spc="179" dirty="0">
                <a:solidFill>
                  <a:srgbClr val="D9E1E8"/>
                </a:solidFill>
                <a:latin typeface="+mj-lt"/>
                <a:ea typeface="Bobby Jones Soft"/>
                <a:cs typeface="Bobby Jones Soft"/>
                <a:sym typeface="Bobby Jones Soft"/>
              </a:rPr>
              <a:t> </a:t>
            </a:r>
            <a:r>
              <a:rPr lang="en-US" sz="3150" spc="179" dirty="0" err="1">
                <a:solidFill>
                  <a:srgbClr val="D9E1E8"/>
                </a:solidFill>
                <a:latin typeface="+mj-lt"/>
                <a:ea typeface="Bobby Jones Soft"/>
                <a:cs typeface="Bobby Jones Soft"/>
                <a:sym typeface="Bobby Jones Soft"/>
              </a:rPr>
              <a:t>técnicos</a:t>
            </a:r>
            <a:endParaRPr lang="en-US" sz="3150" spc="179" dirty="0">
              <a:solidFill>
                <a:srgbClr val="D9E1E8"/>
              </a:solidFill>
              <a:latin typeface="+mj-lt"/>
              <a:ea typeface="Bobby Jones Soft"/>
              <a:cs typeface="Bobby Jones Soft"/>
              <a:sym typeface="Bobby Jones Sof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825488" y="962302"/>
            <a:ext cx="10719157" cy="858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26"/>
              </a:lnSpc>
            </a:pPr>
            <a:r>
              <a:rPr lang="en-US" sz="5161" spc="371" dirty="0" err="1">
                <a:solidFill>
                  <a:srgbClr val="D9E1E8"/>
                </a:solidFill>
                <a:latin typeface="Eras Demi ITC" panose="020B0805030504020804" pitchFamily="34" charset="0"/>
                <a:ea typeface="Bobby Jones Soft"/>
                <a:cs typeface="Bobby Jones Soft"/>
                <a:sym typeface="Bobby Jones Soft"/>
              </a:rPr>
              <a:t>Principales</a:t>
            </a:r>
            <a:r>
              <a:rPr lang="en-US" sz="5161" spc="371" dirty="0">
                <a:solidFill>
                  <a:srgbClr val="D9E1E8"/>
                </a:solidFill>
                <a:latin typeface="Eras Demi ITC" panose="020B0805030504020804" pitchFamily="34" charset="0"/>
                <a:ea typeface="Bobby Jones Soft"/>
                <a:cs typeface="Bobby Jones Soft"/>
                <a:sym typeface="Bobby Jones Soft"/>
              </a:rPr>
              <a:t> </a:t>
            </a:r>
            <a:r>
              <a:rPr lang="en-US" sz="5161" spc="371" dirty="0" err="1">
                <a:solidFill>
                  <a:srgbClr val="D9E1E8"/>
                </a:solidFill>
                <a:latin typeface="Eras Demi ITC" panose="020B0805030504020804" pitchFamily="34" charset="0"/>
                <a:ea typeface="Bobby Jones Soft"/>
                <a:cs typeface="Bobby Jones Soft"/>
                <a:sym typeface="Bobby Jones Soft"/>
              </a:rPr>
              <a:t>desafíos</a:t>
            </a:r>
            <a:r>
              <a:rPr lang="en-US" sz="5161" spc="371" dirty="0">
                <a:solidFill>
                  <a:srgbClr val="D9E1E8"/>
                </a:solidFill>
                <a:latin typeface="Eras Demi ITC" panose="020B0805030504020804" pitchFamily="34" charset="0"/>
                <a:ea typeface="Bobby Jones Soft"/>
                <a:cs typeface="Bobby Jones Soft"/>
                <a:sym typeface="Bobby Jones Soft"/>
              </a:rPr>
              <a:t> y </a:t>
            </a:r>
            <a:r>
              <a:rPr lang="en-US" sz="5161" spc="371" dirty="0" err="1">
                <a:solidFill>
                  <a:srgbClr val="D9E1E8"/>
                </a:solidFill>
                <a:latin typeface="Eras Demi ITC" panose="020B0805030504020804" pitchFamily="34" charset="0"/>
                <a:ea typeface="Bobby Jones Soft"/>
                <a:cs typeface="Bobby Jones Soft"/>
                <a:sym typeface="Bobby Jones Soft"/>
              </a:rPr>
              <a:t>riesgos</a:t>
            </a:r>
            <a:endParaRPr lang="en-US" sz="5161" spc="371" dirty="0">
              <a:solidFill>
                <a:srgbClr val="D9E1E8"/>
              </a:solidFill>
              <a:latin typeface="Eras Demi ITC" panose="020B0805030504020804" pitchFamily="34" charset="0"/>
              <a:ea typeface="Bobby Jones Soft"/>
              <a:cs typeface="Bobby Jones Soft"/>
              <a:sym typeface="Bobby Jones Sof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574202" y="2032787"/>
            <a:ext cx="3886200" cy="550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150" spc="179" dirty="0" err="1">
                <a:solidFill>
                  <a:srgbClr val="D9E1E8"/>
                </a:solidFill>
                <a:latin typeface="+mj-lt"/>
                <a:sym typeface="Bobby Jones Soft"/>
              </a:rPr>
              <a:t>Riesgos</a:t>
            </a:r>
            <a:r>
              <a:rPr lang="en-US" sz="3150" spc="179" dirty="0">
                <a:solidFill>
                  <a:srgbClr val="D9E1E8"/>
                </a:solidFill>
                <a:latin typeface="+mj-lt"/>
                <a:sym typeface="Bobby Jones Soft"/>
              </a:rPr>
              <a:t> y </a:t>
            </a:r>
            <a:r>
              <a:rPr lang="en-US" sz="3150" spc="179" dirty="0" err="1">
                <a:solidFill>
                  <a:srgbClr val="D9E1E8"/>
                </a:solidFill>
                <a:latin typeface="+mj-lt"/>
                <a:sym typeface="Bobby Jones Soft"/>
              </a:rPr>
              <a:t>medidas</a:t>
            </a:r>
            <a:endParaRPr lang="en-US" sz="3150" spc="179" dirty="0">
              <a:solidFill>
                <a:srgbClr val="D9E1E8"/>
              </a:solidFill>
              <a:latin typeface="+mj-lt"/>
              <a:sym typeface="Bobby Jones Sof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170721" y="3038462"/>
            <a:ext cx="3780369" cy="139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91" b="1" spc="28" dirty="0" err="1">
                <a:solidFill>
                  <a:srgbClr val="D9E1E8"/>
                </a:solidFill>
                <a:latin typeface="+mj-lt"/>
                <a:ea typeface="Bobby Jones Soft"/>
                <a:cs typeface="Bobby Jones Soft"/>
                <a:sym typeface="Bobby Jones Soft"/>
              </a:rPr>
              <a:t>Activación</a:t>
            </a:r>
            <a:r>
              <a:rPr lang="en-US" sz="2191" b="1" spc="28" dirty="0">
                <a:solidFill>
                  <a:srgbClr val="D9E1E8"/>
                </a:solidFill>
                <a:latin typeface="+mj-lt"/>
                <a:ea typeface="Bobby Jones Soft"/>
                <a:cs typeface="Bobby Jones Soft"/>
                <a:sym typeface="Bobby Jones Soft"/>
              </a:rPr>
              <a:t> </a:t>
            </a:r>
            <a:r>
              <a:rPr lang="en-US" sz="2191" b="1" spc="28" dirty="0" err="1">
                <a:solidFill>
                  <a:srgbClr val="D9E1E8"/>
                </a:solidFill>
                <a:latin typeface="+mj-lt"/>
                <a:ea typeface="Bobby Jones Soft"/>
                <a:cs typeface="Bobby Jones Soft"/>
                <a:sym typeface="Bobby Jones Soft"/>
              </a:rPr>
              <a:t>por</a:t>
            </a:r>
            <a:r>
              <a:rPr lang="en-US" sz="2191" b="1" spc="28" dirty="0">
                <a:solidFill>
                  <a:srgbClr val="D9E1E8"/>
                </a:solidFill>
                <a:latin typeface="+mj-lt"/>
                <a:ea typeface="Bobby Jones Soft"/>
                <a:cs typeface="Bobby Jones Soft"/>
                <a:sym typeface="Bobby Jones Soft"/>
              </a:rPr>
              <a:t> </a:t>
            </a:r>
            <a:r>
              <a:rPr lang="en-US" sz="2191" b="1" spc="28" dirty="0" err="1">
                <a:solidFill>
                  <a:srgbClr val="D9E1E8"/>
                </a:solidFill>
                <a:latin typeface="+mj-lt"/>
                <a:ea typeface="Bobby Jones Soft"/>
                <a:cs typeface="Bobby Jones Soft"/>
                <a:sym typeface="Bobby Jones Soft"/>
              </a:rPr>
              <a:t>voz</a:t>
            </a:r>
            <a:endParaRPr lang="en-US" sz="2191" b="1" spc="28" dirty="0">
              <a:solidFill>
                <a:srgbClr val="D9E1E8"/>
              </a:solidFill>
              <a:latin typeface="+mj-lt"/>
              <a:ea typeface="Bobby Jones Soft"/>
              <a:cs typeface="Bobby Jones Soft"/>
              <a:sym typeface="Bobby Jones Soft"/>
            </a:endParaRPr>
          </a:p>
          <a:p>
            <a:pPr algn="l">
              <a:lnSpc>
                <a:spcPts val="2560"/>
              </a:lnSpc>
            </a:pPr>
            <a:r>
              <a:rPr lang="en-US" sz="16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Detección</a:t>
            </a:r>
            <a:r>
              <a:rPr lang="en-US" sz="16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confiable</a:t>
            </a:r>
            <a:r>
              <a:rPr lang="en-US" sz="16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de la </a:t>
            </a:r>
            <a:r>
              <a:rPr lang="en-US" sz="16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frase</a:t>
            </a:r>
            <a:r>
              <a:rPr lang="en-US" sz="16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de </a:t>
            </a:r>
            <a:r>
              <a:rPr lang="en-US" sz="16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emergencia</a:t>
            </a:r>
            <a:r>
              <a:rPr lang="en-US" sz="16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, </a:t>
            </a:r>
            <a:r>
              <a:rPr lang="en-US" sz="16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incluso</a:t>
            </a:r>
            <a:r>
              <a:rPr lang="en-US" sz="16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con </a:t>
            </a:r>
            <a:r>
              <a:rPr lang="en-US" sz="16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restricciones</a:t>
            </a:r>
            <a:r>
              <a:rPr lang="en-US" sz="16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del </a:t>
            </a:r>
            <a:r>
              <a:rPr lang="en-US" sz="16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sistema</a:t>
            </a:r>
            <a:r>
              <a:rPr lang="en-US" sz="16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28783" y="5086350"/>
            <a:ext cx="3780369" cy="953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092" b="1" spc="71" dirty="0" err="1">
                <a:solidFill>
                  <a:srgbClr val="D9E1E8"/>
                </a:solidFill>
                <a:latin typeface="+mj-lt"/>
                <a:ea typeface="Bobby Jones Soft"/>
                <a:cs typeface="Bobby Jones Soft"/>
                <a:sym typeface="Bobby Jones Soft"/>
              </a:rPr>
              <a:t>Conectividad</a:t>
            </a:r>
            <a:r>
              <a:rPr lang="en-US" sz="2092" b="1" spc="71" dirty="0">
                <a:solidFill>
                  <a:srgbClr val="D9E1E8"/>
                </a:solidFill>
                <a:latin typeface="+mj-lt"/>
                <a:ea typeface="Bobby Jones Soft"/>
                <a:cs typeface="Bobby Jones Soft"/>
                <a:sym typeface="Bobby Jones Soft"/>
              </a:rPr>
              <a:t> y </a:t>
            </a:r>
            <a:r>
              <a:rPr lang="en-US" sz="2092" b="1" spc="71" dirty="0" err="1">
                <a:solidFill>
                  <a:srgbClr val="D9E1E8"/>
                </a:solidFill>
                <a:latin typeface="+mj-lt"/>
                <a:ea typeface="Bobby Jones Soft"/>
                <a:cs typeface="Bobby Jones Soft"/>
                <a:sym typeface="Bobby Jones Soft"/>
              </a:rPr>
              <a:t>notificaciones</a:t>
            </a:r>
            <a:endParaRPr lang="en-US" sz="2092" b="1" spc="71" dirty="0">
              <a:solidFill>
                <a:srgbClr val="D9E1E8"/>
              </a:solidFill>
              <a:latin typeface="+mj-lt"/>
              <a:ea typeface="Bobby Jones Soft"/>
              <a:cs typeface="Bobby Jones Soft"/>
              <a:sym typeface="Bobby Jones Soft"/>
            </a:endParaRPr>
          </a:p>
          <a:p>
            <a:pPr algn="l">
              <a:lnSpc>
                <a:spcPts val="2302"/>
              </a:lnSpc>
            </a:pPr>
            <a:r>
              <a:rPr lang="en-US" sz="15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La </a:t>
            </a:r>
            <a:r>
              <a:rPr lang="en-US" sz="15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falta</a:t>
            </a:r>
            <a:r>
              <a:rPr lang="en-US" sz="15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de Internet o </a:t>
            </a:r>
            <a:r>
              <a:rPr lang="en-US" sz="15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una</a:t>
            </a:r>
            <a:r>
              <a:rPr lang="en-US" sz="15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5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notificación</a:t>
            </a:r>
            <a:r>
              <a:rPr lang="en-US" sz="15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5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tardía</a:t>
            </a:r>
            <a:r>
              <a:rPr lang="en-US" sz="15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5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puede</a:t>
            </a:r>
            <a:r>
              <a:rPr lang="en-US" sz="15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5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afectar</a:t>
            </a:r>
            <a:r>
              <a:rPr lang="en-US" sz="15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la </a:t>
            </a:r>
            <a:r>
              <a:rPr lang="en-US" sz="1599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atención</a:t>
            </a:r>
            <a:r>
              <a:rPr lang="en-US" sz="1599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28783" y="6772124"/>
            <a:ext cx="4056284" cy="1212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8" b="1" spc="129" dirty="0" err="1">
                <a:solidFill>
                  <a:srgbClr val="D9E1E8"/>
                </a:solidFill>
                <a:latin typeface="+mj-lt"/>
                <a:ea typeface="Bobby Jones Soft"/>
                <a:cs typeface="Bobby Jones Soft"/>
                <a:sym typeface="Bobby Jones Soft"/>
              </a:rPr>
              <a:t>Geolocalización</a:t>
            </a:r>
            <a:endParaRPr lang="en-US" sz="1898" b="1" spc="129" dirty="0">
              <a:solidFill>
                <a:srgbClr val="D9E1E8"/>
              </a:solidFill>
              <a:latin typeface="+mj-lt"/>
              <a:ea typeface="Bobby Jones Soft"/>
              <a:cs typeface="Bobby Jones Soft"/>
              <a:sym typeface="Bobby Jones Soft"/>
            </a:endParaRPr>
          </a:p>
          <a:p>
            <a:pPr algn="l">
              <a:lnSpc>
                <a:spcPts val="2291"/>
              </a:lnSpc>
            </a:pPr>
            <a:r>
              <a:rPr lang="en-US" sz="1635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La </a:t>
            </a:r>
            <a:r>
              <a:rPr lang="en-US" sz="1635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ubicación</a:t>
            </a:r>
            <a:r>
              <a:rPr lang="en-US" sz="1635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puede</a:t>
            </a:r>
            <a:r>
              <a:rPr lang="en-US" sz="1635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no </a:t>
            </a:r>
            <a:r>
              <a:rPr lang="en-US" sz="1635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estar</a:t>
            </a:r>
            <a:r>
              <a:rPr lang="en-US" sz="1635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disponible </a:t>
            </a:r>
            <a:r>
              <a:rPr lang="en-US" sz="1635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por</a:t>
            </a:r>
            <a:r>
              <a:rPr lang="en-US" sz="1635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permisos</a:t>
            </a:r>
            <a:r>
              <a:rPr lang="en-US" sz="1635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, </a:t>
            </a:r>
            <a:r>
              <a:rPr lang="en-US" sz="1635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señal</a:t>
            </a:r>
            <a:r>
              <a:rPr lang="en-US" sz="1635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GPS o </a:t>
            </a:r>
            <a:r>
              <a:rPr lang="en-US" sz="1635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condiciones</a:t>
            </a:r>
            <a:r>
              <a:rPr lang="en-US" sz="1635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 del </a:t>
            </a:r>
            <a:r>
              <a:rPr lang="en-US" sz="1635" dirty="0" err="1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dispositivo</a:t>
            </a:r>
            <a:r>
              <a:rPr lang="en-US" sz="1635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29271" y="8927294"/>
            <a:ext cx="10460906" cy="53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8"/>
              </a:lnSpc>
              <a:spcBef>
                <a:spcPct val="0"/>
              </a:spcBef>
            </a:pPr>
            <a:r>
              <a:rPr lang="en-US" sz="1635" u="none" strike="noStrike">
                <a:solidFill>
                  <a:srgbClr val="D9E1E8"/>
                </a:solidFill>
                <a:latin typeface="ABeeZee"/>
                <a:ea typeface="ABeeZee"/>
                <a:cs typeface="ABeeZee"/>
                <a:sym typeface="ABeeZee"/>
              </a:rPr>
              <a:t>Los riesgos fueron considerados desde el diseño para reducir su impacto y asegurar la continuidad del proceso de atención.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78963" y="7338122"/>
            <a:ext cx="1722477" cy="53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8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Dificultad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con la</a:t>
            </a:r>
          </a:p>
          <a:p>
            <a:pPr marL="0" lvl="0" indent="0" algn="l">
              <a:lnSpc>
                <a:spcPts val="2108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detección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por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voz</a:t>
            </a:r>
            <a:endParaRPr lang="en-US" sz="1600" dirty="0">
              <a:solidFill>
                <a:srgbClr val="D9E1E8"/>
              </a:solidFill>
              <a:latin typeface="ABeeZee"/>
              <a:sym typeface="ABeeZe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518848" y="7363496"/>
            <a:ext cx="4136806" cy="533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8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Pruebas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tempranas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y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adaptación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arestricciones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de Android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18848" y="6386302"/>
            <a:ext cx="4278502" cy="533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>
              <a:lnSpc>
                <a:spcPts val="2108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Autenticación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, roles,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permisosy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registro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de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acciones</a:t>
            </a:r>
            <a:endParaRPr lang="en-US" sz="1600" dirty="0">
              <a:solidFill>
                <a:srgbClr val="D9E1E8"/>
              </a:solidFill>
              <a:latin typeface="ABeeZee"/>
              <a:sym typeface="ABeeZe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616696" y="5523468"/>
            <a:ext cx="4016219" cy="533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8"/>
              </a:lnSpc>
              <a:spcBef>
                <a:spcPct val="0"/>
              </a:spcBef>
            </a:pP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La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alerta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continúa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y se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informala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falta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de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ubicación</a:t>
            </a:r>
            <a:endParaRPr lang="en-US" sz="1600" dirty="0">
              <a:solidFill>
                <a:srgbClr val="D9E1E8"/>
              </a:solidFill>
              <a:latin typeface="ABeeZee"/>
              <a:sym typeface="ABeeZe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593957" y="4643215"/>
            <a:ext cx="4038958" cy="256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>
              <a:lnSpc>
                <a:spcPts val="2108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Reintentos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automáticos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y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escalamiento</a:t>
            </a:r>
            <a:endParaRPr lang="en-US" sz="1600" dirty="0">
              <a:solidFill>
                <a:srgbClr val="D9E1E8"/>
              </a:solidFill>
              <a:latin typeface="ABeeZee"/>
              <a:sym typeface="ABeeZe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638620" y="3780381"/>
            <a:ext cx="4017034" cy="533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8"/>
              </a:lnSpc>
              <a:spcBef>
                <a:spcPct val="0"/>
              </a:spcBef>
            </a:pP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Cuenta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regresiva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de 5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segundos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y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opción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de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cancelar</a:t>
            </a:r>
            <a:endParaRPr lang="en-US" sz="1600" dirty="0">
              <a:solidFill>
                <a:srgbClr val="D9E1E8"/>
              </a:solidFill>
              <a:latin typeface="ABeeZee"/>
              <a:sym typeface="ABeeZe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940996" y="3076109"/>
            <a:ext cx="2534642" cy="301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30"/>
              </a:lnSpc>
            </a:pPr>
            <a:r>
              <a:rPr lang="en-US" sz="1807" b="1" u="sng" dirty="0" err="1">
                <a:solidFill>
                  <a:srgbClr val="D9E1E8"/>
                </a:solidFill>
                <a:latin typeface="+mj-lt"/>
                <a:sym typeface="ABeeZee"/>
              </a:rPr>
              <a:t>Medida</a:t>
            </a:r>
            <a:r>
              <a:rPr lang="en-US" sz="1807" b="1" u="sng" dirty="0">
                <a:solidFill>
                  <a:srgbClr val="D9E1E8"/>
                </a:solidFill>
                <a:latin typeface="+mj-lt"/>
                <a:sym typeface="ABeeZee"/>
              </a:rPr>
              <a:t> </a:t>
            </a:r>
            <a:r>
              <a:rPr lang="en-US" sz="1807" b="1" u="sng" dirty="0" err="1">
                <a:solidFill>
                  <a:srgbClr val="D9E1E8"/>
                </a:solidFill>
                <a:latin typeface="+mj-lt"/>
                <a:sym typeface="ABeeZee"/>
              </a:rPr>
              <a:t>considerada</a:t>
            </a:r>
            <a:endParaRPr lang="en-US" sz="1807" b="1" u="sng" dirty="0">
              <a:solidFill>
                <a:srgbClr val="D9E1E8"/>
              </a:solidFill>
              <a:latin typeface="+mj-lt"/>
              <a:sym typeface="ABeeZe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827018" y="3078923"/>
            <a:ext cx="983982" cy="302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30"/>
              </a:lnSpc>
            </a:pPr>
            <a:r>
              <a:rPr lang="en-US" sz="1807" b="1" u="sng" dirty="0">
                <a:solidFill>
                  <a:srgbClr val="D9E1E8"/>
                </a:solidFill>
                <a:latin typeface="+mj-lt"/>
                <a:ea typeface="ABeeZee"/>
                <a:cs typeface="ABeeZee"/>
                <a:sym typeface="ABeeZee"/>
              </a:rPr>
              <a:t>Riesgo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54379" y="3950273"/>
            <a:ext cx="2272759" cy="257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108"/>
              </a:lnSpc>
              <a:spcBef>
                <a:spcPct val="0"/>
              </a:spcBef>
            </a:pPr>
            <a:r>
              <a:rPr lang="en-US" sz="1600" u="none" strike="noStrike" dirty="0" err="1">
                <a:solidFill>
                  <a:srgbClr val="D9E1E8"/>
                </a:solidFill>
                <a:latin typeface="ABeeZee"/>
                <a:ea typeface="ABeeZee"/>
                <a:cs typeface="ABeeZee"/>
                <a:sym typeface="ABeeZee"/>
              </a:rPr>
              <a:t>Activación</a:t>
            </a:r>
            <a:r>
              <a:rPr lang="en-US" sz="1600" u="none" strike="noStrike" dirty="0">
                <a:solidFill>
                  <a:srgbClr val="D9E1E8"/>
                </a:solidFill>
                <a:latin typeface="ABeeZee"/>
                <a:ea typeface="ABeeZee"/>
                <a:cs typeface="ABeeZee"/>
                <a:sym typeface="ABeeZee"/>
              </a:rPr>
              <a:t> accidental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54379" y="4769812"/>
            <a:ext cx="2624852" cy="25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8"/>
              </a:lnSpc>
              <a:spcBef>
                <a:spcPct val="0"/>
              </a:spcBef>
            </a:pP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Red de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apoyo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no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responde</a:t>
            </a:r>
            <a:endParaRPr lang="en-US" sz="1600" dirty="0">
              <a:solidFill>
                <a:srgbClr val="D9E1E8"/>
              </a:solidFill>
              <a:latin typeface="ABeeZee"/>
              <a:sym typeface="ABeeZe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754379" y="5662177"/>
            <a:ext cx="2320052" cy="25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indent="0">
              <a:lnSpc>
                <a:spcPts val="2108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Ubicación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no disponible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54379" y="6553973"/>
            <a:ext cx="2113240" cy="25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8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Acceso</a:t>
            </a:r>
            <a:r>
              <a:rPr lang="en-US" sz="1600" dirty="0">
                <a:solidFill>
                  <a:srgbClr val="D9E1E8"/>
                </a:solidFill>
                <a:latin typeface="ABeeZee"/>
                <a:sym typeface="ABeeZee"/>
              </a:rPr>
              <a:t> no </a:t>
            </a:r>
            <a:r>
              <a:rPr lang="en-US" sz="1600" dirty="0" err="1">
                <a:solidFill>
                  <a:srgbClr val="D9E1E8"/>
                </a:solidFill>
                <a:latin typeface="ABeeZee"/>
                <a:sym typeface="ABeeZee"/>
              </a:rPr>
              <a:t>autorizado</a:t>
            </a:r>
            <a:endParaRPr lang="en-US" sz="1600" dirty="0">
              <a:solidFill>
                <a:srgbClr val="D9E1E8"/>
              </a:solidFill>
              <a:latin typeface="ABeeZee"/>
              <a:sym typeface="ABeeZe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8308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3" name="TextBox 3"/>
          <p:cNvSpPr txBox="1"/>
          <p:nvPr/>
        </p:nvSpPr>
        <p:spPr>
          <a:xfrm>
            <a:off x="448450" y="790125"/>
            <a:ext cx="140160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51" spc="67">
                <a:solidFill>
                  <a:srgbClr val="BDCBDB"/>
                </a:solidFill>
                <a:latin typeface="Maitree"/>
                <a:ea typeface="Maitree"/>
                <a:cs typeface="Maitree"/>
                <a:sym typeface="Maitree"/>
              </a:rPr>
              <a:t>RESULTADOS</a:t>
            </a:r>
          </a:p>
          <a:p>
            <a:pPr algn="l">
              <a:lnSpc>
                <a:spcPts val="1622"/>
              </a:lnSpc>
            </a:pPr>
            <a:r>
              <a:rPr lang="en-US" sz="1351" spc="67">
                <a:solidFill>
                  <a:srgbClr val="BDCBDB"/>
                </a:solidFill>
                <a:latin typeface="Maitree"/>
                <a:ea typeface="Maitree"/>
                <a:cs typeface="Maitree"/>
                <a:sym typeface="Maitree"/>
              </a:rPr>
              <a:t>Y PROYECCIÓN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22863" y="4681667"/>
            <a:ext cx="5185529" cy="919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598" spc="23" dirty="0">
                <a:solidFill>
                  <a:srgbClr val="E7EAEF"/>
                </a:solidFill>
                <a:latin typeface="+mj-lt"/>
                <a:ea typeface="Maitree"/>
                <a:cs typeface="Maitree"/>
                <a:sym typeface="Maitree"/>
              </a:rPr>
              <a:t>Impacto </a:t>
            </a:r>
            <a:r>
              <a:rPr lang="en-US" sz="2598" spc="23" dirty="0" err="1">
                <a:solidFill>
                  <a:srgbClr val="E7EAEF"/>
                </a:solidFill>
                <a:latin typeface="+mj-lt"/>
                <a:ea typeface="Maitree"/>
                <a:cs typeface="Maitree"/>
                <a:sym typeface="Maitree"/>
              </a:rPr>
              <a:t>en</a:t>
            </a:r>
            <a:r>
              <a:rPr lang="en-US" sz="2598" spc="23" dirty="0">
                <a:solidFill>
                  <a:srgbClr val="E7EAEF"/>
                </a:solidFill>
                <a:latin typeface="+mj-lt"/>
                <a:ea typeface="Maitree"/>
                <a:cs typeface="Maitree"/>
                <a:sym typeface="Maitree"/>
              </a:rPr>
              <a:t> las personas </a:t>
            </a:r>
            <a:r>
              <a:rPr lang="en-US" sz="2598" spc="23" dirty="0" err="1">
                <a:solidFill>
                  <a:srgbClr val="E7EAEF"/>
                </a:solidFill>
                <a:latin typeface="+mj-lt"/>
                <a:ea typeface="Maitree"/>
                <a:cs typeface="Maitree"/>
                <a:sym typeface="Maitree"/>
              </a:rPr>
              <a:t>mayores</a:t>
            </a:r>
            <a:endParaRPr lang="en-US" sz="2598" spc="23" dirty="0">
              <a:solidFill>
                <a:srgbClr val="E7EAEF"/>
              </a:solidFill>
              <a:latin typeface="+mj-lt"/>
              <a:ea typeface="Maitree"/>
              <a:cs typeface="Maitree"/>
              <a:sym typeface="Maitree"/>
            </a:endParaRPr>
          </a:p>
          <a:p>
            <a:pPr>
              <a:lnSpc>
                <a:spcPts val="2159"/>
              </a:lnSpc>
            </a:pPr>
            <a:r>
              <a:rPr lang="en-US" sz="1600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Mayor </a:t>
            </a:r>
            <a:r>
              <a:rPr lang="en-US" sz="1600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seguridad</a:t>
            </a:r>
            <a:r>
              <a:rPr lang="en-US" sz="1600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y </a:t>
            </a:r>
            <a:r>
              <a:rPr lang="en-US" sz="1600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autonomía</a:t>
            </a:r>
            <a:r>
              <a:rPr lang="en-US" sz="1600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, </a:t>
            </a:r>
            <a:r>
              <a:rPr lang="en-US" sz="1600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permitiendo</a:t>
            </a:r>
            <a:r>
              <a:rPr lang="en-US" sz="1600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solicitar</a:t>
            </a:r>
            <a:r>
              <a:rPr lang="en-US" sz="1600" spc="4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ayuda</a:t>
            </a:r>
            <a:r>
              <a:rPr lang="en-US" sz="1600" spc="4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de forma </a:t>
            </a:r>
            <a:r>
              <a:rPr lang="en-US" sz="1600" spc="4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rápida</a:t>
            </a:r>
            <a:r>
              <a:rPr lang="en-US" sz="1600" spc="4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y </a:t>
            </a:r>
            <a:r>
              <a:rPr lang="en-US" sz="1600" spc="4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sencilla</a:t>
            </a:r>
            <a:r>
              <a:rPr lang="en-US" sz="1600" spc="4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cuando</a:t>
            </a:r>
            <a:r>
              <a:rPr lang="en-US" sz="1600" spc="4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lo </a:t>
            </a:r>
            <a:r>
              <a:rPr lang="en-US" sz="1600" spc="4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necesitan</a:t>
            </a:r>
            <a:r>
              <a:rPr lang="en-US" sz="1600" spc="4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65607" y="6336998"/>
            <a:ext cx="5054266" cy="756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sz="2400" spc="113" dirty="0">
                <a:solidFill>
                  <a:srgbClr val="E7EAEF"/>
                </a:solidFill>
                <a:latin typeface="+mj-lt"/>
                <a:ea typeface="Maitree"/>
                <a:cs typeface="Maitree"/>
                <a:sym typeface="Maitree"/>
              </a:rPr>
              <a:t>Impacto </a:t>
            </a:r>
            <a:r>
              <a:rPr lang="en-US" sz="2400" spc="113" dirty="0" err="1">
                <a:solidFill>
                  <a:srgbClr val="E7EAEF"/>
                </a:solidFill>
                <a:latin typeface="+mj-lt"/>
                <a:ea typeface="Maitree"/>
                <a:cs typeface="Maitree"/>
                <a:sym typeface="Maitree"/>
              </a:rPr>
              <a:t>en</a:t>
            </a:r>
            <a:r>
              <a:rPr lang="en-US" sz="2400" spc="113" dirty="0">
                <a:solidFill>
                  <a:srgbClr val="E7EAEF"/>
                </a:solidFill>
                <a:latin typeface="+mj-lt"/>
                <a:ea typeface="Maitree"/>
                <a:cs typeface="Maitree"/>
                <a:sym typeface="Maitree"/>
              </a:rPr>
              <a:t> las </a:t>
            </a:r>
            <a:r>
              <a:rPr lang="en-US" sz="2400" spc="113" dirty="0" err="1">
                <a:solidFill>
                  <a:srgbClr val="E7EAEF"/>
                </a:solidFill>
                <a:latin typeface="+mj-lt"/>
                <a:ea typeface="Maitree"/>
                <a:cs typeface="Maitree"/>
                <a:sym typeface="Maitree"/>
              </a:rPr>
              <a:t>familias</a:t>
            </a:r>
            <a:r>
              <a:rPr lang="en-US" sz="2400" spc="113" dirty="0">
                <a:solidFill>
                  <a:srgbClr val="E7EAEF"/>
                </a:solidFill>
                <a:latin typeface="+mj-lt"/>
                <a:ea typeface="Maitree"/>
                <a:cs typeface="Maitree"/>
                <a:sym typeface="Maitree"/>
              </a:rPr>
              <a:t> y </a:t>
            </a:r>
            <a:r>
              <a:rPr lang="en-US" sz="2400" spc="113" dirty="0" err="1">
                <a:solidFill>
                  <a:srgbClr val="E7EAEF"/>
                </a:solidFill>
                <a:latin typeface="+mj-lt"/>
                <a:ea typeface="Maitree"/>
                <a:cs typeface="Maitree"/>
                <a:sym typeface="Maitree"/>
              </a:rPr>
              <a:t>cuidadores</a:t>
            </a:r>
            <a:endParaRPr lang="en-US" sz="2400" spc="113" dirty="0">
              <a:solidFill>
                <a:srgbClr val="E7EAEF"/>
              </a:solidFill>
              <a:latin typeface="+mj-lt"/>
              <a:ea typeface="Maitree"/>
              <a:cs typeface="Maitree"/>
              <a:sym typeface="Maitree"/>
            </a:endParaRPr>
          </a:p>
          <a:p>
            <a:pPr algn="l">
              <a:lnSpc>
                <a:spcPts val="1816"/>
              </a:lnSpc>
            </a:pP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Tranquilidad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y confianza al saber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que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pueden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recibir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una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alerta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y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actuar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oportunamente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08350" y="7742901"/>
            <a:ext cx="5100042" cy="112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8"/>
              </a:lnSpc>
            </a:pPr>
            <a:r>
              <a:rPr lang="en-US" sz="2598" spc="23" dirty="0">
                <a:solidFill>
                  <a:srgbClr val="E7EAEF"/>
                </a:solidFill>
                <a:latin typeface="+mj-lt"/>
                <a:cs typeface="Maitree"/>
                <a:sym typeface="Maitree"/>
              </a:rPr>
              <a:t>Impacto </a:t>
            </a:r>
            <a:r>
              <a:rPr lang="en-US" sz="2598" spc="23" dirty="0" err="1">
                <a:solidFill>
                  <a:srgbClr val="E7EAEF"/>
                </a:solidFill>
                <a:latin typeface="+mj-lt"/>
                <a:cs typeface="Maitree"/>
                <a:sym typeface="Maitree"/>
              </a:rPr>
              <a:t>en</a:t>
            </a:r>
            <a:r>
              <a:rPr lang="en-US" sz="2598" spc="23" dirty="0">
                <a:solidFill>
                  <a:srgbClr val="E7EAEF"/>
                </a:solidFill>
                <a:latin typeface="+mj-lt"/>
                <a:cs typeface="Maitree"/>
                <a:sym typeface="Maitree"/>
              </a:rPr>
              <a:t> la </a:t>
            </a:r>
            <a:r>
              <a:rPr lang="en-US" sz="2598" spc="23" dirty="0" err="1">
                <a:solidFill>
                  <a:srgbClr val="E7EAEF"/>
                </a:solidFill>
                <a:latin typeface="+mj-lt"/>
                <a:cs typeface="Maitree"/>
                <a:sym typeface="Maitree"/>
              </a:rPr>
              <a:t>sociedad</a:t>
            </a:r>
            <a:endParaRPr lang="en-US" sz="2598" spc="23" dirty="0">
              <a:solidFill>
                <a:srgbClr val="E7EAEF"/>
              </a:solidFill>
              <a:latin typeface="+mj-lt"/>
              <a:cs typeface="Maitree"/>
              <a:sym typeface="Maitree"/>
            </a:endParaRPr>
          </a:p>
          <a:p>
            <a:pPr algn="l">
              <a:lnSpc>
                <a:spcPts val="1900"/>
              </a:lnSpc>
            </a:pP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Aporta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a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una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comunidad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más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inclusiva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y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solidaria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,</a:t>
            </a:r>
          </a:p>
          <a:p>
            <a:pPr algn="l">
              <a:lnSpc>
                <a:spcPts val="1900"/>
              </a:lnSpc>
            </a:pP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promoviendo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el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uso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de la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tecnología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para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mejorar</a:t>
            </a:r>
            <a:endParaRPr lang="en-US" sz="1600" spc="41" dirty="0">
              <a:solidFill>
                <a:srgbClr val="BDCBDB"/>
              </a:solidFill>
              <a:cs typeface="Maitree"/>
              <a:sym typeface="Maitree"/>
            </a:endParaRPr>
          </a:p>
          <a:p>
            <a:pPr algn="l">
              <a:lnSpc>
                <a:spcPts val="1900"/>
              </a:lnSpc>
            </a:pP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la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calidad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de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vida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de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los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adultos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mayores</a:t>
            </a:r>
            <a:r>
              <a:rPr lang="en-US" sz="1599" dirty="0">
                <a:solidFill>
                  <a:srgbClr val="BDCBDB"/>
                </a:solidFill>
                <a:latin typeface="Maitree"/>
                <a:ea typeface="Maitree"/>
                <a:cs typeface="Maitree"/>
                <a:sym typeface="Maitree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79428" y="8592276"/>
            <a:ext cx="5001730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784"/>
              </a:lnSpc>
              <a:spcBef>
                <a:spcPct val="0"/>
              </a:spcBef>
            </a:pP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Combina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facilidad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 de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uso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,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múltiples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 canales de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activación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 (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botón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 y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voz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),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reintentos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 y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escalamiento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,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enfocado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en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 un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problema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 real y poco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abordado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 con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tecnología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599" dirty="0" err="1">
                <a:solidFill>
                  <a:srgbClr val="BDCBDB"/>
                </a:solidFill>
                <a:cs typeface="Maitree"/>
                <a:sym typeface="Maitree"/>
              </a:rPr>
              <a:t>accesible</a:t>
            </a:r>
            <a:r>
              <a:rPr lang="en-US" sz="1599" dirty="0">
                <a:solidFill>
                  <a:srgbClr val="BDCBDB"/>
                </a:solidFill>
                <a:cs typeface="Maitree"/>
                <a:sym typeface="Maitree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58956" y="4681667"/>
            <a:ext cx="5054266" cy="7594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Integra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una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aplicación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móvil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,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plataforma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web, backend, base de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datos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,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notificaciones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,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geolocalización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y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gestión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de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alertas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en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una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solución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 completa y </a:t>
            </a:r>
            <a:r>
              <a:rPr lang="en-US" sz="1600" spc="41" dirty="0" err="1">
                <a:solidFill>
                  <a:srgbClr val="BDCBDB"/>
                </a:solidFill>
                <a:cs typeface="Maitree"/>
                <a:sym typeface="Maitree"/>
              </a:rPr>
              <a:t>escalable</a:t>
            </a:r>
            <a:r>
              <a:rPr lang="en-US" sz="1600" spc="41" dirty="0">
                <a:solidFill>
                  <a:srgbClr val="BDCBDB"/>
                </a:solidFill>
                <a:cs typeface="Maitree"/>
                <a:sym typeface="Maitree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71247" y="6142259"/>
            <a:ext cx="5054265" cy="7259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599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Mejora</a:t>
            </a:r>
            <a:r>
              <a:rPr lang="en-US" sz="1599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la </a:t>
            </a:r>
            <a:r>
              <a:rPr lang="en-US" sz="1599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seguridad</a:t>
            </a:r>
            <a:r>
              <a:rPr lang="en-US" sz="1599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, </a:t>
            </a:r>
            <a:r>
              <a:rPr lang="en-US" sz="1599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autonomia</a:t>
            </a:r>
            <a:r>
              <a:rPr lang="en-US" sz="1599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y </a:t>
            </a:r>
            <a:r>
              <a:rPr lang="en-US" sz="1599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bienestar</a:t>
            </a:r>
            <a:r>
              <a:rPr lang="en-US" sz="1599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de las personas </a:t>
            </a:r>
            <a:r>
              <a:rPr lang="en-US" sz="1599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mayores</a:t>
            </a:r>
            <a:r>
              <a:rPr lang="en-US" sz="1599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, </a:t>
            </a:r>
            <a:r>
              <a:rPr lang="en-US" sz="1599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fortaleciendo</a:t>
            </a:r>
            <a:r>
              <a:rPr lang="en-US" sz="1599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la red de </a:t>
            </a:r>
            <a:r>
              <a:rPr lang="en-US" sz="1599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apoyo</a:t>
            </a:r>
            <a:r>
              <a:rPr lang="en-US" sz="1599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y la </a:t>
            </a:r>
            <a:r>
              <a:rPr lang="en-US" sz="1599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cordinacion</a:t>
            </a:r>
            <a:r>
              <a:rPr lang="en-US" sz="1599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ante </a:t>
            </a:r>
            <a:r>
              <a:rPr lang="en-US" sz="1599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emergencaia</a:t>
            </a:r>
            <a:r>
              <a:rPr lang="en-US" sz="1599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08440" y="5778774"/>
            <a:ext cx="1860174" cy="346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23"/>
              </a:lnSpc>
              <a:spcBef>
                <a:spcPct val="0"/>
              </a:spcBef>
            </a:pPr>
            <a:r>
              <a:rPr lang="en-US" sz="2000" u="none" strike="noStrike" spc="26" dirty="0">
                <a:solidFill>
                  <a:srgbClr val="E7EAEF"/>
                </a:solidFill>
                <a:latin typeface="+mj-lt"/>
                <a:ea typeface="Maitree"/>
                <a:cs typeface="Maitree"/>
                <a:sym typeface="Maitree"/>
              </a:rPr>
              <a:t>Valor social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52897" y="6977090"/>
            <a:ext cx="2680413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1"/>
              </a:lnSpc>
            </a:pPr>
            <a:r>
              <a:rPr lang="en-US" sz="2272" spc="34" dirty="0">
                <a:solidFill>
                  <a:srgbClr val="E7EAEF"/>
                </a:solidFill>
                <a:latin typeface="Maitree"/>
                <a:ea typeface="Maitree"/>
                <a:cs typeface="Maitree"/>
                <a:sym typeface="Maitree"/>
              </a:rPr>
              <a:t>Valor </a:t>
            </a:r>
            <a:r>
              <a:rPr lang="en-US" sz="2272" spc="34" dirty="0" err="1">
                <a:solidFill>
                  <a:srgbClr val="E7EAEF"/>
                </a:solidFill>
                <a:latin typeface="Maitree"/>
                <a:ea typeface="Maitree"/>
                <a:cs typeface="Maitree"/>
                <a:sym typeface="Maitree"/>
              </a:rPr>
              <a:t>económico</a:t>
            </a:r>
            <a:endParaRPr lang="en-US" sz="2272" spc="34" dirty="0">
              <a:solidFill>
                <a:srgbClr val="E7EAEF"/>
              </a:solidFill>
              <a:latin typeface="Maitree"/>
              <a:ea typeface="Maitree"/>
              <a:cs typeface="Maitree"/>
              <a:sym typeface="Maitre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746226" y="7314528"/>
            <a:ext cx="5054265" cy="7259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903"/>
              </a:lnSpc>
              <a:spcBef>
                <a:spcPct val="0"/>
              </a:spcBef>
            </a:pP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Contribuye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a </a:t>
            </a: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optimizar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la </a:t>
            </a: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atención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de </a:t>
            </a: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emergencias</a:t>
            </a:r>
            <a:r>
              <a:rPr lang="en-US" sz="1599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y </a:t>
            </a: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puede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ser </a:t>
            </a: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implementado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</a:t>
            </a: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en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</a:t>
            </a: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comunas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, </a:t>
            </a: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instituciones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o </a:t>
            </a: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servicios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de </a:t>
            </a: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apoyo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 a </a:t>
            </a: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adultos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</a:t>
            </a:r>
            <a:r>
              <a:rPr lang="en-US" sz="1599" u="none" strike="noStrike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mayores</a:t>
            </a:r>
            <a:r>
              <a:rPr lang="en-US" sz="1599" u="none" strike="noStrike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28729" y="9725343"/>
            <a:ext cx="9735341" cy="516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2000" spc="-1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Más </a:t>
            </a:r>
            <a:r>
              <a:rPr lang="en-US" sz="2000" spc="-1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que</a:t>
            </a:r>
            <a:r>
              <a:rPr lang="en-US" sz="2000" spc="-1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un </a:t>
            </a:r>
            <a:r>
              <a:rPr lang="en-US" sz="2000" spc="-1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proyecto</a:t>
            </a:r>
            <a:r>
              <a:rPr lang="en-US" sz="2000" spc="-1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, QuickHelp es un </a:t>
            </a:r>
            <a:r>
              <a:rPr lang="en-US" sz="2000" spc="-1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aporte</a:t>
            </a:r>
            <a:r>
              <a:rPr lang="en-US" sz="2000" spc="-1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a un </a:t>
            </a:r>
            <a:r>
              <a:rPr lang="en-US" sz="2000" spc="-1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futuro</a:t>
            </a:r>
            <a:r>
              <a:rPr lang="en-US" sz="2000" spc="-1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</a:t>
            </a:r>
            <a:r>
              <a:rPr lang="en-US" sz="2000" spc="-1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más</a:t>
            </a:r>
            <a:r>
              <a:rPr lang="en-US" sz="2000" spc="-1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</a:t>
            </a:r>
            <a:r>
              <a:rPr lang="en-US" sz="2000" spc="-1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seguro</a:t>
            </a:r>
            <a:r>
              <a:rPr lang="en-US" sz="2000" spc="-1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y </a:t>
            </a:r>
            <a:r>
              <a:rPr lang="en-US" sz="2000" spc="-1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humano</a:t>
            </a:r>
            <a:endParaRPr lang="en-US" sz="2000" spc="-11" dirty="0">
              <a:solidFill>
                <a:srgbClr val="BDCBDB"/>
              </a:solidFill>
              <a:ea typeface="Maitree"/>
              <a:cs typeface="Maitree"/>
              <a:sym typeface="Maitree"/>
            </a:endParaRPr>
          </a:p>
          <a:p>
            <a:pPr algn="ctr">
              <a:lnSpc>
                <a:spcPts val="2015"/>
              </a:lnSpc>
            </a:pPr>
            <a:r>
              <a:rPr lang="en-US" sz="2000" spc="-1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para </a:t>
            </a:r>
            <a:r>
              <a:rPr lang="en-US" sz="2000" spc="-1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quienes</a:t>
            </a:r>
            <a:r>
              <a:rPr lang="en-US" sz="2000" spc="-1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nos </a:t>
            </a:r>
            <a:r>
              <a:rPr lang="en-US" sz="2000" spc="-11" dirty="0" err="1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han</a:t>
            </a:r>
            <a:r>
              <a:rPr lang="en-US" sz="2000" spc="-11" dirty="0">
                <a:solidFill>
                  <a:srgbClr val="BDCBDB"/>
                </a:solidFill>
                <a:ea typeface="Maitree"/>
                <a:cs typeface="Maitree"/>
                <a:sym typeface="Maitree"/>
              </a:rPr>
              <a:t> dado tanto.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05634" y="8258258"/>
            <a:ext cx="2374940" cy="305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44"/>
              </a:lnSpc>
              <a:spcBef>
                <a:spcPct val="0"/>
              </a:spcBef>
            </a:pPr>
            <a:r>
              <a:rPr lang="en-US" sz="2040" u="none" strike="noStrike" spc="22" dirty="0">
                <a:solidFill>
                  <a:srgbClr val="E7EAEF"/>
                </a:solidFill>
                <a:latin typeface="Maitree"/>
                <a:ea typeface="Maitree"/>
                <a:cs typeface="Maitree"/>
                <a:sym typeface="Maitree"/>
              </a:rPr>
              <a:t>Valor </a:t>
            </a:r>
            <a:r>
              <a:rPr lang="en-US" sz="2040" u="none" strike="noStrike" spc="22" dirty="0" err="1">
                <a:solidFill>
                  <a:srgbClr val="E7EAEF"/>
                </a:solidFill>
                <a:latin typeface="Maitree"/>
                <a:ea typeface="Maitree"/>
                <a:cs typeface="Maitree"/>
                <a:sym typeface="Maitree"/>
              </a:rPr>
              <a:t>diferenciador</a:t>
            </a:r>
            <a:endParaRPr lang="en-US" sz="2040" u="none" strike="noStrike" spc="22" dirty="0">
              <a:solidFill>
                <a:srgbClr val="E7EAEF"/>
              </a:solidFill>
              <a:latin typeface="Maitree"/>
              <a:ea typeface="Maitree"/>
              <a:cs typeface="Maitree"/>
              <a:sym typeface="Maitree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AFC405BB-7E75-4A7E-A84F-DC6B21A46C0A}"/>
              </a:ext>
            </a:extLst>
          </p:cNvPr>
          <p:cNvSpPr txBox="1"/>
          <p:nvPr/>
        </p:nvSpPr>
        <p:spPr>
          <a:xfrm>
            <a:off x="10851107" y="4250135"/>
            <a:ext cx="1860174" cy="365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8"/>
              </a:lnSpc>
            </a:pPr>
            <a:r>
              <a:rPr lang="en-US" sz="2000" spc="23" dirty="0">
                <a:solidFill>
                  <a:srgbClr val="E7EAEF"/>
                </a:solidFill>
                <a:cs typeface="Maitree"/>
                <a:sym typeface="Maitree"/>
              </a:rPr>
              <a:t>Valor </a:t>
            </a:r>
            <a:r>
              <a:rPr lang="en-US" sz="2000" spc="23" dirty="0" err="1">
                <a:solidFill>
                  <a:srgbClr val="E7EAEF"/>
                </a:solidFill>
                <a:cs typeface="Maitree"/>
                <a:sym typeface="Maitree"/>
              </a:rPr>
              <a:t>tecnológico</a:t>
            </a:r>
            <a:endParaRPr lang="en-US" sz="2000" spc="23" dirty="0">
              <a:solidFill>
                <a:srgbClr val="E7EAEF"/>
              </a:solidFill>
              <a:cs typeface="Maitree"/>
              <a:sym typeface="Maitre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317079" y="650787"/>
            <a:ext cx="12721463" cy="148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4200" spc="25" dirty="0">
                <a:solidFill>
                  <a:srgbClr val="D3DAE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</a:t>
            </a:r>
            <a:r>
              <a:rPr lang="en-US" sz="4200" spc="25" dirty="0" err="1">
                <a:solidFill>
                  <a:srgbClr val="D3DAE5"/>
                </a:solidFill>
                <a:latin typeface="Eras Demi ITC" panose="020B0805030504020804" pitchFamily="34" charset="0"/>
                <a:ea typeface="League Spartan"/>
                <a:cs typeface="League Spartan"/>
                <a:sym typeface="League Spartan"/>
              </a:rPr>
              <a:t>Competencias</a:t>
            </a:r>
            <a:r>
              <a:rPr lang="en-US" sz="4200" spc="25" dirty="0">
                <a:solidFill>
                  <a:srgbClr val="D3DAE5"/>
                </a:solidFill>
                <a:latin typeface="Eras Demi ITC" panose="020B0805030504020804" pitchFamily="34" charset="0"/>
                <a:ea typeface="League Spartan"/>
                <a:cs typeface="League Spartan"/>
                <a:sym typeface="League Spartan"/>
              </a:rPr>
              <a:t> del </a:t>
            </a:r>
            <a:r>
              <a:rPr lang="en-US" sz="4200" spc="25" dirty="0" err="1">
                <a:solidFill>
                  <a:srgbClr val="D3DAE5"/>
                </a:solidFill>
                <a:latin typeface="Eras Demi ITC" panose="020B0805030504020804" pitchFamily="34" charset="0"/>
                <a:ea typeface="League Spartan"/>
                <a:cs typeface="League Spartan"/>
                <a:sym typeface="League Spartan"/>
              </a:rPr>
              <a:t>perfil</a:t>
            </a:r>
            <a:r>
              <a:rPr lang="en-US" sz="4200" spc="25" dirty="0">
                <a:solidFill>
                  <a:srgbClr val="D3DAE5"/>
                </a:solidFill>
                <a:latin typeface="Eras Demi ITC" panose="020B0805030504020804" pitchFamily="34" charset="0"/>
                <a:ea typeface="League Spartan"/>
                <a:cs typeface="League Spartan"/>
                <a:sym typeface="League Spartan"/>
              </a:rPr>
              <a:t> de </a:t>
            </a:r>
            <a:r>
              <a:rPr lang="en-US" sz="4200" spc="25" dirty="0" err="1">
                <a:solidFill>
                  <a:srgbClr val="D3DAE5"/>
                </a:solidFill>
                <a:latin typeface="Eras Demi ITC" panose="020B0805030504020804" pitchFamily="34" charset="0"/>
                <a:ea typeface="League Spartan"/>
                <a:cs typeface="League Spartan"/>
                <a:sym typeface="League Spartan"/>
              </a:rPr>
              <a:t>egreso</a:t>
            </a:r>
            <a:endParaRPr lang="en-US" sz="4200" spc="25" dirty="0">
              <a:solidFill>
                <a:srgbClr val="D3DAE5"/>
              </a:solidFill>
              <a:latin typeface="Eras Demi ITC" panose="020B0805030504020804" pitchFamily="34" charset="0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2490"/>
              </a:lnSpc>
            </a:pPr>
            <a:endParaRPr lang="en-US" sz="4200" spc="25" dirty="0">
              <a:solidFill>
                <a:srgbClr val="D3DAE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2520"/>
              </a:lnSpc>
            </a:pP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QuickHelp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permite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aplicar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de forma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integrada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las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competencias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del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perfil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de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egreso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de Ingeniería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en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Informática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de Duoc UC,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desarrollando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una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solución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tecnológica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con </a:t>
            </a:r>
            <a:r>
              <a:rPr lang="en-US" sz="2400" spc="60" dirty="0" err="1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impacto</a:t>
            </a:r>
            <a:r>
              <a:rPr lang="en-US" sz="2400" spc="60" dirty="0">
                <a:solidFill>
                  <a:srgbClr val="D3DAE5"/>
                </a:solidFill>
                <a:latin typeface="+mj-lt"/>
                <a:ea typeface="ABeeZee"/>
                <a:cs typeface="ABeeZee"/>
                <a:sym typeface="ABeeZee"/>
              </a:rPr>
              <a:t> real.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80840" y="3182913"/>
            <a:ext cx="172996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775"/>
              </a:lnSpc>
              <a:spcBef>
                <a:spcPct val="0"/>
              </a:spcBef>
            </a:pPr>
            <a:r>
              <a:rPr lang="en-US" sz="1599" b="1" spc="4" dirty="0">
                <a:solidFill>
                  <a:srgbClr val="D3DAE5"/>
                </a:solidFill>
                <a:latin typeface="Open Sauce SemiBold Bold"/>
                <a:sym typeface="Open Sauce SemiBold Bold"/>
              </a:rPr>
              <a:t>Ingeniería de</a:t>
            </a:r>
          </a:p>
          <a:p>
            <a:pPr marL="0" lvl="0" indent="0" algn="l">
              <a:lnSpc>
                <a:spcPts val="1775"/>
              </a:lnSpc>
              <a:spcBef>
                <a:spcPct val="0"/>
              </a:spcBef>
            </a:pPr>
            <a:r>
              <a:rPr lang="en-US" sz="1599" b="1" spc="4" dirty="0" err="1">
                <a:solidFill>
                  <a:srgbClr val="D3DAE5"/>
                </a:solidFill>
                <a:latin typeface="Open Sauce SemiBold Bold"/>
                <a:sym typeface="Open Sauce SemiBold Bold"/>
              </a:rPr>
              <a:t>requisitos</a:t>
            </a:r>
            <a:endParaRPr lang="en-US" sz="1599" b="1" spc="4" dirty="0">
              <a:solidFill>
                <a:srgbClr val="D3DAE5"/>
              </a:solidFill>
              <a:latin typeface="Open Sauce SemiBold Bold"/>
              <a:sym typeface="Open Sauce SemiBol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099714" y="3417673"/>
            <a:ext cx="296271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75"/>
              </a:lnSpc>
            </a:pPr>
            <a:r>
              <a:rPr lang="en-US" sz="1599" b="1" spc="4" dirty="0">
                <a:solidFill>
                  <a:srgbClr val="D3DAE5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Desarrollo de </a:t>
            </a:r>
            <a:r>
              <a:rPr lang="en-US" sz="1599" b="1" spc="4" dirty="0" err="1">
                <a:solidFill>
                  <a:srgbClr val="D3DAE5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soluciones</a:t>
            </a:r>
            <a:r>
              <a:rPr lang="en-US" sz="1599" b="1" spc="4" dirty="0">
                <a:solidFill>
                  <a:srgbClr val="D3DAE5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 de software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6073" y="4410478"/>
            <a:ext cx="4636356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QuickHelp </a:t>
            </a:r>
            <a:r>
              <a:rPr lang="en-US" sz="1800" spc="26" dirty="0" err="1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aplica</a:t>
            </a:r>
            <a:r>
              <a:rPr lang="en-US" sz="1800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 el </a:t>
            </a:r>
            <a:r>
              <a:rPr lang="en-US" sz="1800" spc="26" dirty="0" err="1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diseño</a:t>
            </a:r>
            <a:r>
              <a:rPr lang="en-US" sz="1800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 y Desarrollo de </a:t>
            </a:r>
            <a:r>
              <a:rPr lang="en-US" sz="1800" spc="26" dirty="0" err="1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una</a:t>
            </a:r>
            <a:r>
              <a:rPr lang="en-US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 </a:t>
            </a:r>
            <a:r>
              <a:rPr lang="en-US" sz="1800" spc="26" dirty="0" err="1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solución</a:t>
            </a:r>
            <a:r>
              <a:rPr lang="en-US" sz="1800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 </a:t>
            </a:r>
            <a:r>
              <a:rPr lang="en-US" sz="1800" spc="26" dirty="0" err="1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informática</a:t>
            </a:r>
            <a:r>
              <a:rPr lang="en-US" sz="1800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 completa, </a:t>
            </a:r>
            <a:r>
              <a:rPr lang="en-US" sz="1800" spc="26" dirty="0" err="1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integrando</a:t>
            </a:r>
            <a:r>
              <a:rPr lang="en-US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 </a:t>
            </a:r>
            <a:r>
              <a:rPr lang="en-US" sz="1800" spc="26" dirty="0" err="1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aplicación</a:t>
            </a:r>
            <a:r>
              <a:rPr lang="en-US" sz="1800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 </a:t>
            </a:r>
            <a:r>
              <a:rPr lang="en-US" sz="1800" spc="26" dirty="0" err="1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móvil</a:t>
            </a:r>
            <a:r>
              <a:rPr lang="en-US" sz="1800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, Plataforma</a:t>
            </a:r>
            <a:r>
              <a:rPr lang="en-US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 </a:t>
            </a:r>
            <a:r>
              <a:rPr lang="en-US" sz="1800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web, backend y </a:t>
            </a:r>
            <a:r>
              <a:rPr lang="en-US" sz="1800" spc="26" dirty="0" err="1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servicios</a:t>
            </a:r>
            <a:r>
              <a:rPr lang="en-US" sz="1800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 </a:t>
            </a:r>
            <a:r>
              <a:rPr lang="en-US" sz="1800" spc="26" dirty="0" err="1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asociados</a:t>
            </a:r>
            <a:r>
              <a:rPr lang="en-US" sz="1800" spc="26" dirty="0">
                <a:solidFill>
                  <a:srgbClr val="D3DAE5"/>
                </a:solidFill>
                <a:ea typeface="ABeeZee"/>
                <a:cs typeface="ABeeZee"/>
                <a:sym typeface="ABeeZee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29400" y="4292903"/>
            <a:ext cx="4636356" cy="116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>
              <a:lnSpc>
                <a:spcPts val="2268"/>
              </a:lnSpc>
              <a:spcBef>
                <a:spcPct val="0"/>
              </a:spcBef>
            </a:pPr>
            <a:r>
              <a:rPr lang="en-US" spc="26" dirty="0">
                <a:solidFill>
                  <a:srgbClr val="D3DAE5"/>
                </a:solidFill>
                <a:sym typeface="ABeeZee"/>
              </a:rPr>
              <a:t>El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proyecto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considera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levantamiento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de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requerimientos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historias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de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usuario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casos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de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uso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y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criterios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de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aceptación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para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definir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correctamente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la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solución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86776" y="3379423"/>
            <a:ext cx="1601510" cy="22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5"/>
              </a:lnSpc>
              <a:spcBef>
                <a:spcPct val="0"/>
              </a:spcBef>
            </a:pPr>
            <a:r>
              <a:rPr lang="en-US" sz="1599" b="1" u="none" strike="noStrike" spc="4" dirty="0">
                <a:solidFill>
                  <a:srgbClr val="D3DAE5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Bases de </a:t>
            </a:r>
            <a:r>
              <a:rPr lang="en-US" sz="1599" b="1" u="none" strike="noStrike" spc="4" dirty="0" err="1">
                <a:solidFill>
                  <a:srgbClr val="D3DAE5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datos</a:t>
            </a:r>
            <a:endParaRPr lang="en-US" sz="1599" b="1" u="none" strike="noStrike" spc="4" dirty="0">
              <a:solidFill>
                <a:srgbClr val="D3DAE5"/>
              </a:solidFill>
              <a:latin typeface="Open Sauce SemiBold Bold"/>
              <a:ea typeface="Open Sauce SemiBold Bold"/>
              <a:cs typeface="Open Sauce SemiBold Bold"/>
              <a:sym typeface="Open Sauce SemiBol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976687" y="4292904"/>
            <a:ext cx="4577120" cy="116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68"/>
              </a:lnSpc>
              <a:spcBef>
                <a:spcPct val="0"/>
              </a:spcBef>
            </a:pPr>
            <a:r>
              <a:rPr lang="en-US" sz="1800" u="none" strike="noStrike" spc="26" dirty="0">
                <a:solidFill>
                  <a:srgbClr val="D3DAE5"/>
                </a:solidFill>
                <a:latin typeface="ABeeZee"/>
                <a:ea typeface="ABeeZee"/>
                <a:cs typeface="ABeeZee"/>
                <a:sym typeface="ABeeZee"/>
              </a:rPr>
              <a:t>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diseña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un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modelo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de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datos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relacional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que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permite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gestionar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usuarios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alertas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red de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apoyo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historial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auditoría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y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configuración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del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sistema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93714" y="6786841"/>
            <a:ext cx="2259449" cy="22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5"/>
              </a:lnSpc>
              <a:spcBef>
                <a:spcPct val="0"/>
              </a:spcBef>
            </a:pPr>
            <a:r>
              <a:rPr lang="en-US" sz="1599" b="1" u="none" strike="noStrike" spc="4" dirty="0" err="1">
                <a:solidFill>
                  <a:srgbClr val="D3DAE5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Gestión</a:t>
            </a:r>
            <a:r>
              <a:rPr lang="en-US" sz="1599" b="1" u="none" strike="noStrike" spc="4" dirty="0">
                <a:solidFill>
                  <a:srgbClr val="D3DAE5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 de </a:t>
            </a:r>
            <a:r>
              <a:rPr lang="en-US" sz="1599" b="1" u="none" strike="noStrike" spc="4" dirty="0" err="1">
                <a:solidFill>
                  <a:srgbClr val="D3DAE5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proyectos</a:t>
            </a:r>
            <a:endParaRPr lang="en-US" sz="1599" b="1" u="none" strike="noStrike" spc="4" dirty="0">
              <a:solidFill>
                <a:srgbClr val="D3DAE5"/>
              </a:solidFill>
              <a:latin typeface="Open Sauce SemiBold Bold"/>
              <a:ea typeface="Open Sauce SemiBold Bold"/>
              <a:cs typeface="Open Sauce SemiBold Bold"/>
              <a:sym typeface="Open Sauce SemiBol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62467" y="7680762"/>
            <a:ext cx="4651453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>
              <a:lnSpc>
                <a:spcPts val="2268"/>
              </a:lnSpc>
              <a:spcBef>
                <a:spcPct val="0"/>
              </a:spcBef>
            </a:pPr>
            <a:r>
              <a:rPr lang="en-US" spc="26" dirty="0">
                <a:solidFill>
                  <a:srgbClr val="D3DAE5"/>
                </a:solidFill>
                <a:sym typeface="ABeeZee"/>
              </a:rPr>
              <a:t>QuickHelp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incorpora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planificación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metodología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incremental,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cronograma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gestión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de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riesgos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control de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cambios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y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seguimiento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del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avance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19211" y="7676317"/>
            <a:ext cx="4516755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8"/>
              </a:lnSpc>
              <a:spcBef>
                <a:spcPct val="0"/>
              </a:spcBef>
            </a:pPr>
            <a:r>
              <a:rPr lang="en-US" spc="26" dirty="0">
                <a:solidFill>
                  <a:srgbClr val="D3DAE5"/>
                </a:solidFill>
                <a:sym typeface="ABeeZee"/>
              </a:rPr>
              <a:t>El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sistema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considera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autenticación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roles,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permisos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auditoría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pruebas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y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medidas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para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reducir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riesgos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durante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la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operación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76029" y="6567766"/>
            <a:ext cx="1942624" cy="446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5"/>
              </a:lnSpc>
              <a:spcBef>
                <a:spcPct val="0"/>
              </a:spcBef>
            </a:pPr>
            <a:r>
              <a:rPr lang="en-US" sz="1599" b="1" u="none" strike="noStrike" spc="4">
                <a:solidFill>
                  <a:srgbClr val="D3DAE5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Calidad, seguridad</a:t>
            </a:r>
          </a:p>
          <a:p>
            <a:pPr marL="0" lvl="0" indent="0" algn="l">
              <a:lnSpc>
                <a:spcPts val="1775"/>
              </a:lnSpc>
              <a:spcBef>
                <a:spcPct val="0"/>
              </a:spcBef>
            </a:pPr>
            <a:r>
              <a:rPr lang="en-US" sz="1599" b="1" u="none" strike="noStrike" spc="4">
                <a:solidFill>
                  <a:srgbClr val="D3DAE5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y sostenibilidad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06414" y="7632206"/>
            <a:ext cx="4747393" cy="116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>
              <a:lnSpc>
                <a:spcPts val="2268"/>
              </a:lnSpc>
              <a:spcBef>
                <a:spcPct val="0"/>
              </a:spcBef>
            </a:pPr>
            <a:r>
              <a:rPr lang="en-US" spc="26" dirty="0">
                <a:solidFill>
                  <a:srgbClr val="D3DAE5"/>
                </a:solidFill>
                <a:sym typeface="ABeeZee"/>
              </a:rPr>
              <a:t>El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proyecto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incluye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una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aplicación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móvil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orientada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al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adulto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mayor y a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su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red de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apoyo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integrada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con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servicios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del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dispositivo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y el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sistema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central.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05410" y="6532768"/>
            <a:ext cx="2110145" cy="446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5"/>
              </a:lnSpc>
              <a:spcBef>
                <a:spcPct val="0"/>
              </a:spcBef>
            </a:pPr>
            <a:r>
              <a:rPr lang="en-US" sz="1599" b="1" u="none" strike="noStrike" spc="4">
                <a:solidFill>
                  <a:srgbClr val="D3DAE5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Desarrollo para</a:t>
            </a:r>
          </a:p>
          <a:p>
            <a:pPr marL="0" lvl="0" indent="0" algn="l">
              <a:lnSpc>
                <a:spcPts val="1775"/>
              </a:lnSpc>
              <a:spcBef>
                <a:spcPct val="0"/>
              </a:spcBef>
            </a:pPr>
            <a:r>
              <a:rPr lang="en-US" sz="1599" b="1" u="none" strike="noStrike" spc="4">
                <a:solidFill>
                  <a:srgbClr val="D3DAE5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plataformas móviles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23438" y="9117977"/>
            <a:ext cx="10535561" cy="576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8"/>
              </a:lnSpc>
              <a:spcBef>
                <a:spcPct val="0"/>
              </a:spcBef>
            </a:pPr>
            <a:r>
              <a:rPr lang="en-US" spc="26" dirty="0">
                <a:solidFill>
                  <a:srgbClr val="D3DAE5"/>
                </a:solidFill>
                <a:sym typeface="ABeeZee"/>
              </a:rPr>
              <a:t>QuickHelp integra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competencias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técnicas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, de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gestión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y de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innovación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del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perfil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de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egreso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en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una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solución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orientada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a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una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necesidad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 real de la </a:t>
            </a:r>
            <a:r>
              <a:rPr lang="en-US" spc="26" dirty="0" err="1">
                <a:solidFill>
                  <a:srgbClr val="D3DAE5"/>
                </a:solidFill>
                <a:sym typeface="ABeeZee"/>
              </a:rPr>
              <a:t>sociedad</a:t>
            </a:r>
            <a:r>
              <a:rPr lang="en-US" spc="26" dirty="0">
                <a:solidFill>
                  <a:srgbClr val="D3DAE5"/>
                </a:solidFill>
                <a:sym typeface="ABeeZee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602815" y="9762536"/>
            <a:ext cx="200025" cy="397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spc="84">
                <a:solidFill>
                  <a:srgbClr val="D3DAE5"/>
                </a:solidFill>
                <a:latin typeface="Bellaboo"/>
                <a:ea typeface="Bellaboo"/>
                <a:cs typeface="Bellaboo"/>
                <a:sym typeface="Bellaboo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390672" y="1731060"/>
            <a:ext cx="8131387" cy="1776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02"/>
              </a:lnSpc>
            </a:pPr>
            <a:r>
              <a:rPr lang="en-US" sz="10769" spc="333" dirty="0" err="1">
                <a:solidFill>
                  <a:srgbClr val="DCE1E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Conclusión</a:t>
            </a:r>
            <a:endParaRPr lang="en-US" sz="10769" spc="333" dirty="0">
              <a:solidFill>
                <a:srgbClr val="DCE1E7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90672" y="3633068"/>
            <a:ext cx="8131387" cy="52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8"/>
              </a:lnSpc>
              <a:spcBef>
                <a:spcPct val="0"/>
              </a:spcBef>
            </a:pP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QuickHelp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nace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como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una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respuesta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a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una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necesidad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real: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mejorar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la forma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en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que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las personas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mayores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pueden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pedir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ayuda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y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recibir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una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atención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oportuna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ante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una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emergencia</a:t>
            </a:r>
            <a:r>
              <a:rPr lang="en-US" sz="1635" dirty="0">
                <a:solidFill>
                  <a:srgbClr val="DCE1E7"/>
                </a:solidFill>
                <a:latin typeface="+mj-lt"/>
                <a:ea typeface="ABeeZee"/>
                <a:cs typeface="ABeeZee"/>
                <a:sym typeface="ABeeZee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28567" y="8010204"/>
            <a:ext cx="9299760" cy="53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8"/>
              </a:lnSpc>
              <a:spcBef>
                <a:spcPct val="0"/>
              </a:spcBef>
            </a:pP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Buscamos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que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una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alerta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no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quede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solo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en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un aviso,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sino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que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se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convierta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en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una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respuesta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acompañada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,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gestionada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 y </a:t>
            </a:r>
            <a:r>
              <a:rPr lang="en-US" sz="1635" dirty="0" err="1">
                <a:solidFill>
                  <a:srgbClr val="DCE1E7"/>
                </a:solidFill>
                <a:latin typeface="+mj-lt"/>
                <a:sym typeface="ABeeZee"/>
              </a:rPr>
              <a:t>segura</a:t>
            </a:r>
            <a:r>
              <a:rPr lang="en-US" sz="1635" dirty="0">
                <a:solidFill>
                  <a:srgbClr val="DCE1E7"/>
                </a:solidFill>
                <a:latin typeface="+mj-lt"/>
                <a:sym typeface="ABeeZee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1355</Words>
  <Application>Microsoft Office PowerPoint</Application>
  <PresentationFormat>Personalizado</PresentationFormat>
  <Paragraphs>159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34" baseType="lpstr">
      <vt:lpstr>Agrandir Narrow</vt:lpstr>
      <vt:lpstr>Angelina</vt:lpstr>
      <vt:lpstr>Madani Arabic</vt:lpstr>
      <vt:lpstr>Calibri</vt:lpstr>
      <vt:lpstr>Lato</vt:lpstr>
      <vt:lpstr>Eras Demi ITC</vt:lpstr>
      <vt:lpstr>Roboto</vt:lpstr>
      <vt:lpstr>Maitree</vt:lpstr>
      <vt:lpstr>Bellaboo</vt:lpstr>
      <vt:lpstr>Arial MT Pro</vt:lpstr>
      <vt:lpstr>Open Sauce SemiBold</vt:lpstr>
      <vt:lpstr>ABeeZee</vt:lpstr>
      <vt:lpstr>Open Sauce SemiBold Bold</vt:lpstr>
      <vt:lpstr>Futura</vt:lpstr>
      <vt:lpstr>Agrandir Narrow Bold</vt:lpstr>
      <vt:lpstr>Inter</vt:lpstr>
      <vt:lpstr>Garet</vt:lpstr>
      <vt:lpstr>Arial</vt:lpstr>
      <vt:lpstr>League Spartan</vt:lpstr>
      <vt:lpstr>DM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Seguridad Informática Corporativo Ilustrado Azul y Rosa</dc:title>
  <dc:creator>karl octave</dc:creator>
  <cp:lastModifiedBy>karl octave</cp:lastModifiedBy>
  <cp:revision>2</cp:revision>
  <dcterms:created xsi:type="dcterms:W3CDTF">2006-08-16T00:00:00Z</dcterms:created>
  <dcterms:modified xsi:type="dcterms:W3CDTF">2026-09-11T21:51:02Z</dcterms:modified>
  <dc:identifier>DAHU5qaA1EY</dc:identifier>
</cp:coreProperties>
</file>